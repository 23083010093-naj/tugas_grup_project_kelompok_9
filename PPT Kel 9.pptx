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Montserrat Semi-Bold" charset="1" panose="00000700000000000000"/>
      <p:regular r:id="rId21"/>
    </p:embeddedFont>
    <p:embeddedFont>
      <p:font typeface="Montserrat Medium Italics" charset="1" panose="00000600000000000000"/>
      <p:regular r:id="rId22"/>
    </p:embeddedFont>
    <p:embeddedFont>
      <p:font typeface="Neue Machina Ultra-Bold" charset="1" panose="00000900000000000000"/>
      <p:regular r:id="rId23"/>
    </p:embeddedFont>
    <p:embeddedFont>
      <p:font typeface="Raleway" charset="1" panose="00000000000000000000"/>
      <p:regular r:id="rId24"/>
    </p:embeddedFont>
    <p:embeddedFont>
      <p:font typeface="Raleway Bold" charset="1" panose="00000000000000000000"/>
      <p:regular r:id="rId25"/>
    </p:embeddedFont>
    <p:embeddedFont>
      <p:font typeface="Neue Machina" charset="1" panose="000005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jpeg" Type="http://schemas.openxmlformats.org/officeDocument/2006/relationships/image"/><Relationship Id="rId11" Target="../media/image10.jpeg" Type="http://schemas.openxmlformats.org/officeDocument/2006/relationships/image"/><Relationship Id="rId12" Target="../media/image11.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20.png" Type="http://schemas.openxmlformats.org/officeDocument/2006/relationships/image"/><Relationship Id="rId5" Target="../media/image2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2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png" Type="http://schemas.openxmlformats.org/officeDocument/2006/relationships/image"/><Relationship Id="rId4" Target="../media/image29.png" Type="http://schemas.openxmlformats.org/officeDocument/2006/relationships/image"/><Relationship Id="rId5" Target="../media/image3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32.png" Type="http://schemas.openxmlformats.org/officeDocument/2006/relationships/image"/><Relationship Id="rId4" Target="../media/image33.png" Type="http://schemas.openxmlformats.org/officeDocument/2006/relationships/image"/><Relationship Id="rId5" Target="../media/image3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png" Type="http://schemas.openxmlformats.org/officeDocument/2006/relationships/image"/><Relationship Id="rId4" Target="../embeddings/oleObject1.bin" Type="http://schemas.openxmlformats.org/officeDocument/2006/relationships/oleObjec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 Id="rId3" Target="../media/image3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 Id="rId3" Target="../media/image40.svg" Type="http://schemas.openxmlformats.org/officeDocument/2006/relationships/image"/><Relationship Id="rId4" Target="../media/image41.png" Type="http://schemas.openxmlformats.org/officeDocument/2006/relationships/image"/><Relationship Id="rId5" Target="../media/image42.svg" Type="http://schemas.openxmlformats.org/officeDocument/2006/relationships/image"/><Relationship Id="rId6" Target="../media/image43.png" Type="http://schemas.openxmlformats.org/officeDocument/2006/relationships/image"/><Relationship Id="rId7" Target="../media/image4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D1FF6E"/>
        </a:solidFill>
      </p:bgPr>
    </p:bg>
    <p:spTree>
      <p:nvGrpSpPr>
        <p:cNvPr id="1" name=""/>
        <p:cNvGrpSpPr/>
        <p:nvPr/>
      </p:nvGrpSpPr>
      <p:grpSpPr>
        <a:xfrm>
          <a:off x="0" y="0"/>
          <a:ext cx="0" cy="0"/>
          <a:chOff x="0" y="0"/>
          <a:chExt cx="0" cy="0"/>
        </a:xfrm>
      </p:grpSpPr>
      <p:grpSp>
        <p:nvGrpSpPr>
          <p:cNvPr name="Group 2" id="2"/>
          <p:cNvGrpSpPr/>
          <p:nvPr/>
        </p:nvGrpSpPr>
        <p:grpSpPr>
          <a:xfrm rot="0">
            <a:off x="0" y="6969153"/>
            <a:ext cx="18288000" cy="3914704"/>
            <a:chOff x="0" y="0"/>
            <a:chExt cx="1684804" cy="360647"/>
          </a:xfrm>
        </p:grpSpPr>
        <p:sp>
          <p:nvSpPr>
            <p:cNvPr name="Freeform 3" id="3"/>
            <p:cNvSpPr/>
            <p:nvPr/>
          </p:nvSpPr>
          <p:spPr>
            <a:xfrm flipH="false" flipV="false" rot="0">
              <a:off x="0" y="0"/>
              <a:ext cx="1684805" cy="360647"/>
            </a:xfrm>
            <a:custGeom>
              <a:avLst/>
              <a:gdLst/>
              <a:ahLst/>
              <a:cxnLst/>
              <a:rect r="r" b="b" t="t" l="l"/>
              <a:pathLst>
                <a:path h="360647" w="1684805">
                  <a:moveTo>
                    <a:pt x="0" y="0"/>
                  </a:moveTo>
                  <a:lnTo>
                    <a:pt x="1684805" y="0"/>
                  </a:lnTo>
                  <a:lnTo>
                    <a:pt x="1684805" y="360647"/>
                  </a:lnTo>
                  <a:lnTo>
                    <a:pt x="0" y="360647"/>
                  </a:lnTo>
                  <a:close/>
                </a:path>
              </a:pathLst>
            </a:custGeom>
            <a:solidFill>
              <a:srgbClr val="FAFAFA"/>
            </a:solidFill>
          </p:spPr>
        </p:sp>
        <p:sp>
          <p:nvSpPr>
            <p:cNvPr name="TextBox 4" id="4"/>
            <p:cNvSpPr txBox="true"/>
            <p:nvPr/>
          </p:nvSpPr>
          <p:spPr>
            <a:xfrm>
              <a:off x="0" y="-47625"/>
              <a:ext cx="1684804" cy="408272"/>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true" rot="0">
            <a:off x="1028700" y="7093258"/>
            <a:ext cx="2190299" cy="2190299"/>
          </a:xfrm>
          <a:custGeom>
            <a:avLst/>
            <a:gdLst/>
            <a:ahLst/>
            <a:cxnLst/>
            <a:rect r="r" b="b" t="t" l="l"/>
            <a:pathLst>
              <a:path h="2190299" w="2190299">
                <a:moveTo>
                  <a:pt x="0" y="2190299"/>
                </a:moveTo>
                <a:lnTo>
                  <a:pt x="2190299" y="2190299"/>
                </a:lnTo>
                <a:lnTo>
                  <a:pt x="2190299" y="0"/>
                </a:lnTo>
                <a:lnTo>
                  <a:pt x="0" y="0"/>
                </a:lnTo>
                <a:lnTo>
                  <a:pt x="0" y="219029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6399949" y="356764"/>
            <a:ext cx="1386736" cy="1343873"/>
          </a:xfrm>
          <a:custGeom>
            <a:avLst/>
            <a:gdLst/>
            <a:ahLst/>
            <a:cxnLst/>
            <a:rect r="r" b="b" t="t" l="l"/>
            <a:pathLst>
              <a:path h="1343873" w="1386736">
                <a:moveTo>
                  <a:pt x="0" y="0"/>
                </a:moveTo>
                <a:lnTo>
                  <a:pt x="1386736" y="0"/>
                </a:lnTo>
                <a:lnTo>
                  <a:pt x="1386736" y="1343872"/>
                </a:lnTo>
                <a:lnTo>
                  <a:pt x="0" y="13438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5400000">
            <a:off x="14485013" y="4801274"/>
            <a:ext cx="5216608" cy="331966"/>
          </a:xfrm>
          <a:custGeom>
            <a:avLst/>
            <a:gdLst/>
            <a:ahLst/>
            <a:cxnLst/>
            <a:rect r="r" b="b" t="t" l="l"/>
            <a:pathLst>
              <a:path h="331966" w="5216608">
                <a:moveTo>
                  <a:pt x="0" y="0"/>
                </a:moveTo>
                <a:lnTo>
                  <a:pt x="5216608" y="0"/>
                </a:lnTo>
                <a:lnTo>
                  <a:pt x="5216608" y="331966"/>
                </a:lnTo>
                <a:lnTo>
                  <a:pt x="0" y="3319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true" rot="0">
            <a:off x="-1712841" y="-1080208"/>
            <a:ext cx="3425681" cy="5398638"/>
          </a:xfrm>
          <a:custGeom>
            <a:avLst/>
            <a:gdLst/>
            <a:ahLst/>
            <a:cxnLst/>
            <a:rect r="r" b="b" t="t" l="l"/>
            <a:pathLst>
              <a:path h="5398638" w="3425681">
                <a:moveTo>
                  <a:pt x="0" y="5398638"/>
                </a:moveTo>
                <a:lnTo>
                  <a:pt x="3425682" y="5398638"/>
                </a:lnTo>
                <a:lnTo>
                  <a:pt x="3425682" y="0"/>
                </a:lnTo>
                <a:lnTo>
                  <a:pt x="0" y="0"/>
                </a:lnTo>
                <a:lnTo>
                  <a:pt x="0" y="5398638"/>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9" id="9"/>
          <p:cNvGrpSpPr/>
          <p:nvPr/>
        </p:nvGrpSpPr>
        <p:grpSpPr>
          <a:xfrm rot="0">
            <a:off x="5541756" y="6224618"/>
            <a:ext cx="7204488" cy="2701887"/>
            <a:chOff x="0" y="0"/>
            <a:chExt cx="9605984" cy="3602516"/>
          </a:xfrm>
        </p:grpSpPr>
        <p:grpSp>
          <p:nvGrpSpPr>
            <p:cNvPr name="Group 10" id="10"/>
            <p:cNvGrpSpPr/>
            <p:nvPr/>
          </p:nvGrpSpPr>
          <p:grpSpPr>
            <a:xfrm rot="0">
              <a:off x="7163505" y="0"/>
              <a:ext cx="2239289" cy="223928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0"/>
                <a:stretch>
                  <a:fillRect l="0" t="-16666" r="0" b="-16666"/>
                </a:stretch>
              </a:blipFill>
              <a:ln w="66675" cap="sq">
                <a:solidFill>
                  <a:srgbClr val="FFFFFF"/>
                </a:solidFill>
                <a:prstDash val="solid"/>
                <a:miter/>
              </a:ln>
            </p:spPr>
          </p:sp>
        </p:grpSp>
        <p:grpSp>
          <p:nvGrpSpPr>
            <p:cNvPr name="Group 12" id="12"/>
            <p:cNvGrpSpPr/>
            <p:nvPr/>
          </p:nvGrpSpPr>
          <p:grpSpPr>
            <a:xfrm rot="0">
              <a:off x="70175" y="0"/>
              <a:ext cx="2239289" cy="2239289"/>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1"/>
                <a:stretch>
                  <a:fillRect l="0" t="0" r="0" b="0"/>
                </a:stretch>
              </a:blipFill>
              <a:ln w="66675" cap="sq">
                <a:solidFill>
                  <a:srgbClr val="FFFFFF"/>
                </a:solidFill>
                <a:prstDash val="solid"/>
                <a:miter/>
              </a:ln>
            </p:spPr>
          </p:sp>
        </p:grpSp>
        <p:sp>
          <p:nvSpPr>
            <p:cNvPr name="TextBox 14" id="14"/>
            <p:cNvSpPr txBox="true"/>
            <p:nvPr/>
          </p:nvSpPr>
          <p:spPr>
            <a:xfrm rot="0">
              <a:off x="0" y="2440770"/>
              <a:ext cx="2379639" cy="673633"/>
            </a:xfrm>
            <a:prstGeom prst="rect">
              <a:avLst/>
            </a:prstGeom>
          </p:spPr>
          <p:txBody>
            <a:bodyPr anchor="t" rtlCol="false" tIns="0" lIns="0" bIns="0" rIns="0">
              <a:spAutoFit/>
            </a:bodyPr>
            <a:lstStyle/>
            <a:p>
              <a:pPr algn="ctr">
                <a:lnSpc>
                  <a:spcPts val="2049"/>
                </a:lnSpc>
              </a:pPr>
              <a:r>
                <a:rPr lang="en-US" b="true" sz="1601">
                  <a:solidFill>
                    <a:srgbClr val="000000"/>
                  </a:solidFill>
                  <a:latin typeface="Montserrat Semi-Bold"/>
                  <a:ea typeface="Montserrat Semi-Bold"/>
                  <a:cs typeface="Montserrat Semi-Bold"/>
                  <a:sym typeface="Montserrat Semi-Bold"/>
                </a:rPr>
                <a:t>Nouval Arya Junior</a:t>
              </a:r>
            </a:p>
          </p:txBody>
        </p:sp>
        <p:sp>
          <p:nvSpPr>
            <p:cNvPr name="TextBox 15" id="15"/>
            <p:cNvSpPr txBox="true"/>
            <p:nvPr/>
          </p:nvSpPr>
          <p:spPr>
            <a:xfrm rot="0">
              <a:off x="3839806" y="2449779"/>
              <a:ext cx="1929641" cy="673633"/>
            </a:xfrm>
            <a:prstGeom prst="rect">
              <a:avLst/>
            </a:prstGeom>
          </p:spPr>
          <p:txBody>
            <a:bodyPr anchor="t" rtlCol="false" tIns="0" lIns="0" bIns="0" rIns="0">
              <a:spAutoFit/>
            </a:bodyPr>
            <a:lstStyle/>
            <a:p>
              <a:pPr algn="ctr">
                <a:lnSpc>
                  <a:spcPts val="2049"/>
                </a:lnSpc>
              </a:pPr>
              <a:r>
                <a:rPr lang="en-US" b="true" sz="1601">
                  <a:solidFill>
                    <a:srgbClr val="000000"/>
                  </a:solidFill>
                  <a:latin typeface="Montserrat Semi-Bold"/>
                  <a:ea typeface="Montserrat Semi-Bold"/>
                  <a:cs typeface="Montserrat Semi-Bold"/>
                  <a:sym typeface="Montserrat Semi-Bold"/>
                </a:rPr>
                <a:t>Deswita Choirun Nisa</a:t>
              </a:r>
            </a:p>
          </p:txBody>
        </p:sp>
        <p:sp>
          <p:nvSpPr>
            <p:cNvPr name="TextBox 16" id="16"/>
            <p:cNvSpPr txBox="true"/>
            <p:nvPr/>
          </p:nvSpPr>
          <p:spPr>
            <a:xfrm rot="0">
              <a:off x="7506196" y="2612220"/>
              <a:ext cx="1694257" cy="330733"/>
            </a:xfrm>
            <a:prstGeom prst="rect">
              <a:avLst/>
            </a:prstGeom>
          </p:spPr>
          <p:txBody>
            <a:bodyPr anchor="t" rtlCol="false" tIns="0" lIns="0" bIns="0" rIns="0">
              <a:spAutoFit/>
            </a:bodyPr>
            <a:lstStyle/>
            <a:p>
              <a:pPr algn="ctr">
                <a:lnSpc>
                  <a:spcPts val="2049"/>
                </a:lnSpc>
              </a:pPr>
              <a:r>
                <a:rPr lang="en-US" b="true" sz="1601">
                  <a:solidFill>
                    <a:srgbClr val="000000"/>
                  </a:solidFill>
                  <a:latin typeface="Montserrat Semi-Bold"/>
                  <a:ea typeface="Montserrat Semi-Bold"/>
                  <a:cs typeface="Montserrat Semi-Bold"/>
                  <a:sym typeface="Montserrat Semi-Bold"/>
                </a:rPr>
                <a:t>Irma Liza</a:t>
              </a:r>
            </a:p>
          </p:txBody>
        </p:sp>
        <p:sp>
          <p:nvSpPr>
            <p:cNvPr name="TextBox 17" id="17"/>
            <p:cNvSpPr txBox="true"/>
            <p:nvPr/>
          </p:nvSpPr>
          <p:spPr>
            <a:xfrm rot="0">
              <a:off x="0" y="3305332"/>
              <a:ext cx="2379639" cy="297184"/>
            </a:xfrm>
            <a:prstGeom prst="rect">
              <a:avLst/>
            </a:prstGeom>
          </p:spPr>
          <p:txBody>
            <a:bodyPr anchor="t" rtlCol="false" tIns="0" lIns="0" bIns="0" rIns="0">
              <a:spAutoFit/>
            </a:bodyPr>
            <a:lstStyle/>
            <a:p>
              <a:pPr algn="ctr">
                <a:lnSpc>
                  <a:spcPts val="1771"/>
                </a:lnSpc>
              </a:pPr>
              <a:r>
                <a:rPr lang="en-US" b="true" sz="1501" i="true">
                  <a:solidFill>
                    <a:srgbClr val="000000"/>
                  </a:solidFill>
                  <a:latin typeface="Montserrat Medium Italics"/>
                  <a:ea typeface="Montserrat Medium Italics"/>
                  <a:cs typeface="Montserrat Medium Italics"/>
                  <a:sym typeface="Montserrat Medium Italics"/>
                </a:rPr>
                <a:t>23083010093</a:t>
              </a:r>
            </a:p>
          </p:txBody>
        </p:sp>
        <p:sp>
          <p:nvSpPr>
            <p:cNvPr name="TextBox 18" id="18"/>
            <p:cNvSpPr txBox="true"/>
            <p:nvPr/>
          </p:nvSpPr>
          <p:spPr>
            <a:xfrm rot="0">
              <a:off x="3614807" y="3305332"/>
              <a:ext cx="2379639" cy="297184"/>
            </a:xfrm>
            <a:prstGeom prst="rect">
              <a:avLst/>
            </a:prstGeom>
          </p:spPr>
          <p:txBody>
            <a:bodyPr anchor="t" rtlCol="false" tIns="0" lIns="0" bIns="0" rIns="0">
              <a:spAutoFit/>
            </a:bodyPr>
            <a:lstStyle/>
            <a:p>
              <a:pPr algn="ctr">
                <a:lnSpc>
                  <a:spcPts val="1771"/>
                </a:lnSpc>
              </a:pPr>
              <a:r>
                <a:rPr lang="en-US" b="true" sz="1501" i="true">
                  <a:solidFill>
                    <a:srgbClr val="000000"/>
                  </a:solidFill>
                  <a:latin typeface="Montserrat Medium Italics"/>
                  <a:ea typeface="Montserrat Medium Italics"/>
                  <a:cs typeface="Montserrat Medium Italics"/>
                  <a:sym typeface="Montserrat Medium Italics"/>
                </a:rPr>
                <a:t>24083010009</a:t>
              </a:r>
            </a:p>
          </p:txBody>
        </p:sp>
        <p:sp>
          <p:nvSpPr>
            <p:cNvPr name="TextBox 19" id="19"/>
            <p:cNvSpPr txBox="true"/>
            <p:nvPr/>
          </p:nvSpPr>
          <p:spPr>
            <a:xfrm rot="0">
              <a:off x="7226346" y="3305332"/>
              <a:ext cx="2379639" cy="297184"/>
            </a:xfrm>
            <a:prstGeom prst="rect">
              <a:avLst/>
            </a:prstGeom>
          </p:spPr>
          <p:txBody>
            <a:bodyPr anchor="t" rtlCol="false" tIns="0" lIns="0" bIns="0" rIns="0">
              <a:spAutoFit/>
            </a:bodyPr>
            <a:lstStyle/>
            <a:p>
              <a:pPr algn="ctr">
                <a:lnSpc>
                  <a:spcPts val="1771"/>
                </a:lnSpc>
              </a:pPr>
              <a:r>
                <a:rPr lang="en-US" b="true" sz="1501" i="true">
                  <a:solidFill>
                    <a:srgbClr val="000000"/>
                  </a:solidFill>
                  <a:latin typeface="Montserrat Medium Italics"/>
                  <a:ea typeface="Montserrat Medium Italics"/>
                  <a:cs typeface="Montserrat Medium Italics"/>
                  <a:sym typeface="Montserrat Medium Italics"/>
                </a:rPr>
                <a:t>24083010118</a:t>
              </a:r>
            </a:p>
          </p:txBody>
        </p:sp>
      </p:grpSp>
      <p:grpSp>
        <p:nvGrpSpPr>
          <p:cNvPr name="Group 20" id="20"/>
          <p:cNvGrpSpPr/>
          <p:nvPr/>
        </p:nvGrpSpPr>
        <p:grpSpPr>
          <a:xfrm rot="0">
            <a:off x="8252861" y="6224618"/>
            <a:ext cx="1679467" cy="1679467"/>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2"/>
              <a:stretch>
                <a:fillRect l="-53813" t="-28166" r="-44775" b="-136177"/>
              </a:stretch>
            </a:blipFill>
            <a:ln w="66675" cap="sq">
              <a:solidFill>
                <a:srgbClr val="FFFFFF"/>
              </a:solidFill>
              <a:prstDash val="solid"/>
              <a:miter/>
            </a:ln>
          </p:spPr>
        </p:sp>
      </p:grpSp>
      <p:sp>
        <p:nvSpPr>
          <p:cNvPr name="TextBox 22" id="22"/>
          <p:cNvSpPr txBox="true"/>
          <p:nvPr/>
        </p:nvSpPr>
        <p:spPr>
          <a:xfrm rot="0">
            <a:off x="2264912" y="1895270"/>
            <a:ext cx="13758176" cy="2423160"/>
          </a:xfrm>
          <a:prstGeom prst="rect">
            <a:avLst/>
          </a:prstGeom>
        </p:spPr>
        <p:txBody>
          <a:bodyPr anchor="t" rtlCol="false" tIns="0" lIns="0" bIns="0" rIns="0">
            <a:spAutoFit/>
          </a:bodyPr>
          <a:lstStyle/>
          <a:p>
            <a:pPr algn="ctr">
              <a:lnSpc>
                <a:spcPts val="4769"/>
              </a:lnSpc>
            </a:pPr>
            <a:r>
              <a:rPr lang="en-US" b="true" sz="4499">
                <a:solidFill>
                  <a:srgbClr val="000000"/>
                </a:solidFill>
                <a:latin typeface="Neue Machina Ultra-Bold"/>
                <a:ea typeface="Neue Machina Ultra-Bold"/>
                <a:cs typeface="Neue Machina Ultra-Bold"/>
                <a:sym typeface="Neue Machina Ultra-Bold"/>
              </a:rPr>
              <a:t>IMPLEMENTASI PEMROSESAN BI</a:t>
            </a:r>
            <a:r>
              <a:rPr lang="en-US" b="true" sz="4499">
                <a:solidFill>
                  <a:srgbClr val="000000"/>
                </a:solidFill>
                <a:latin typeface="Neue Machina Ultra-Bold"/>
                <a:ea typeface="Neue Machina Ultra-Bold"/>
                <a:cs typeface="Neue Machina Ultra-Bold"/>
                <a:sym typeface="Neue Machina Ultra-Bold"/>
              </a:rPr>
              <a:t>G DATA UNTUK ANALISIS SENTIMEN REVIEW APLIKASI BERITA DETIKCOM DAN CNN INDONESIA PADA GOOGLE PLAY STORE</a:t>
            </a:r>
          </a:p>
        </p:txBody>
      </p:sp>
      <p:sp>
        <p:nvSpPr>
          <p:cNvPr name="TextBox 23" id="23"/>
          <p:cNvSpPr txBox="true"/>
          <p:nvPr/>
        </p:nvSpPr>
        <p:spPr>
          <a:xfrm rot="0">
            <a:off x="4581243" y="5423152"/>
            <a:ext cx="9125515" cy="661030"/>
          </a:xfrm>
          <a:prstGeom prst="rect">
            <a:avLst/>
          </a:prstGeom>
        </p:spPr>
        <p:txBody>
          <a:bodyPr anchor="t" rtlCol="false" tIns="0" lIns="0" bIns="0" rIns="0">
            <a:spAutoFit/>
          </a:bodyPr>
          <a:lstStyle/>
          <a:p>
            <a:pPr algn="ctr">
              <a:lnSpc>
                <a:spcPts val="5072"/>
              </a:lnSpc>
            </a:pPr>
            <a:r>
              <a:rPr lang="en-US" b="true" sz="4785">
                <a:solidFill>
                  <a:srgbClr val="000000"/>
                </a:solidFill>
                <a:latin typeface="Neue Machina Ultra-Bold"/>
                <a:ea typeface="Neue Machina Ultra-Bold"/>
                <a:cs typeface="Neue Machina Ultra-Bold"/>
                <a:sym typeface="Neue Machina Ultra-Bold"/>
              </a:rPr>
              <a:t>KELOMPOK 9</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D1FF6E"/>
        </a:solidFill>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795607" y="0"/>
            <a:ext cx="3763775" cy="10287000"/>
            <a:chOff x="0" y="0"/>
            <a:chExt cx="346742" cy="947703"/>
          </a:xfrm>
        </p:grpSpPr>
        <p:sp>
          <p:nvSpPr>
            <p:cNvPr name="Freeform 3" id="3"/>
            <p:cNvSpPr/>
            <p:nvPr/>
          </p:nvSpPr>
          <p:spPr>
            <a:xfrm flipH="false" flipV="false" rot="0">
              <a:off x="0" y="0"/>
              <a:ext cx="346742" cy="947703"/>
            </a:xfrm>
            <a:custGeom>
              <a:avLst/>
              <a:gdLst/>
              <a:ahLst/>
              <a:cxnLst/>
              <a:rect r="r" b="b" t="t" l="l"/>
              <a:pathLst>
                <a:path h="947703" w="346742">
                  <a:moveTo>
                    <a:pt x="0" y="0"/>
                  </a:moveTo>
                  <a:lnTo>
                    <a:pt x="346742" y="0"/>
                  </a:lnTo>
                  <a:lnTo>
                    <a:pt x="346742" y="947703"/>
                  </a:lnTo>
                  <a:lnTo>
                    <a:pt x="0" y="947703"/>
                  </a:lnTo>
                  <a:close/>
                </a:path>
              </a:pathLst>
            </a:custGeom>
            <a:solidFill>
              <a:srgbClr val="C6FF4D"/>
            </a:solidFill>
          </p:spPr>
        </p:sp>
        <p:sp>
          <p:nvSpPr>
            <p:cNvPr name="TextBox 4" id="4"/>
            <p:cNvSpPr txBox="true"/>
            <p:nvPr/>
          </p:nvSpPr>
          <p:spPr>
            <a:xfrm>
              <a:off x="0" y="-47625"/>
              <a:ext cx="346742" cy="99532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5400000">
            <a:off x="-1413621" y="6484013"/>
            <a:ext cx="5216608" cy="331966"/>
          </a:xfrm>
          <a:custGeom>
            <a:avLst/>
            <a:gdLst/>
            <a:ahLst/>
            <a:cxnLst/>
            <a:rect r="r" b="b" t="t" l="l"/>
            <a:pathLst>
              <a:path h="331966" w="5216608">
                <a:moveTo>
                  <a:pt x="0" y="0"/>
                </a:moveTo>
                <a:lnTo>
                  <a:pt x="5216608" y="0"/>
                </a:lnTo>
                <a:lnTo>
                  <a:pt x="5216608" y="331966"/>
                </a:lnTo>
                <a:lnTo>
                  <a:pt x="0" y="331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74385" y="1028700"/>
            <a:ext cx="2172561" cy="1710398"/>
          </a:xfrm>
          <a:custGeom>
            <a:avLst/>
            <a:gdLst/>
            <a:ahLst/>
            <a:cxnLst/>
            <a:rect r="r" b="b" t="t" l="l"/>
            <a:pathLst>
              <a:path h="1710398" w="2172561">
                <a:moveTo>
                  <a:pt x="0" y="0"/>
                </a:moveTo>
                <a:lnTo>
                  <a:pt x="2172561" y="0"/>
                </a:lnTo>
                <a:lnTo>
                  <a:pt x="2172561" y="1710398"/>
                </a:lnTo>
                <a:lnTo>
                  <a:pt x="0" y="17103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6575159" y="7587681"/>
            <a:ext cx="3425681" cy="5398638"/>
          </a:xfrm>
          <a:custGeom>
            <a:avLst/>
            <a:gdLst/>
            <a:ahLst/>
            <a:cxnLst/>
            <a:rect r="r" b="b" t="t" l="l"/>
            <a:pathLst>
              <a:path h="5398638" w="3425681">
                <a:moveTo>
                  <a:pt x="0" y="0"/>
                </a:moveTo>
                <a:lnTo>
                  <a:pt x="3425682" y="0"/>
                </a:lnTo>
                <a:lnTo>
                  <a:pt x="3425682" y="5398638"/>
                </a:lnTo>
                <a:lnTo>
                  <a:pt x="0" y="539863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3433236" y="2092574"/>
            <a:ext cx="11253015" cy="4948555"/>
          </a:xfrm>
          <a:prstGeom prst="rect">
            <a:avLst/>
          </a:prstGeom>
        </p:spPr>
        <p:txBody>
          <a:bodyPr anchor="t" rtlCol="false" tIns="0" lIns="0" bIns="0" rIns="0">
            <a:spAutoFit/>
          </a:bodyPr>
          <a:lstStyle/>
          <a:p>
            <a:pPr algn="just">
              <a:lnSpc>
                <a:spcPts val="3919"/>
              </a:lnSpc>
            </a:pPr>
            <a:r>
              <a:rPr lang="en-US" sz="2799">
                <a:solidFill>
                  <a:srgbClr val="000000"/>
                </a:solidFill>
                <a:latin typeface="Raleway"/>
                <a:ea typeface="Raleway"/>
                <a:cs typeface="Raleway"/>
                <a:sym typeface="Raleway"/>
              </a:rPr>
              <a:t>Perkembangan teknologi digital menyebabkan meningkatnya penggunaan aplikasi berita online. Pengguna aplikasi dapat memberikan review di Google Play Store yang berisi opini, kritik, serta pengalaman mereka saat menggunakan aplikasi. Review tersebut menjadi sumber informasi yang penting untuk mengetahui persepsi pengguna terhadap suatu aplikasi. Namun, jumlah review yang sangat banyak membuat data tersebut sulit dianalisis secara manual. Oleh karena itu, diperlukan analisis sentimen berbasis big data untuk membantu mengolah dan memahami opini pengguna secara lebih efektif.</a:t>
            </a:r>
          </a:p>
        </p:txBody>
      </p:sp>
      <p:sp>
        <p:nvSpPr>
          <p:cNvPr name="Freeform 9" id="9"/>
          <p:cNvSpPr/>
          <p:nvPr/>
        </p:nvSpPr>
        <p:spPr>
          <a:xfrm flipH="false" flipV="false" rot="0">
            <a:off x="16303708" y="1028700"/>
            <a:ext cx="955592" cy="955592"/>
          </a:xfrm>
          <a:custGeom>
            <a:avLst/>
            <a:gdLst/>
            <a:ahLst/>
            <a:cxnLst/>
            <a:rect r="r" b="b" t="t" l="l"/>
            <a:pathLst>
              <a:path h="955592" w="955592">
                <a:moveTo>
                  <a:pt x="0" y="0"/>
                </a:moveTo>
                <a:lnTo>
                  <a:pt x="955592" y="0"/>
                </a:lnTo>
                <a:lnTo>
                  <a:pt x="955592" y="955592"/>
                </a:lnTo>
                <a:lnTo>
                  <a:pt x="0" y="9555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3433236" y="743553"/>
            <a:ext cx="9055627" cy="762943"/>
          </a:xfrm>
          <a:prstGeom prst="rect">
            <a:avLst/>
          </a:prstGeom>
        </p:spPr>
        <p:txBody>
          <a:bodyPr anchor="t" rtlCol="false" tIns="0" lIns="0" bIns="0" rIns="0">
            <a:spAutoFit/>
          </a:bodyPr>
          <a:lstStyle/>
          <a:p>
            <a:pPr algn="l">
              <a:lnSpc>
                <a:spcPts val="5740"/>
              </a:lnSpc>
            </a:pPr>
            <a:r>
              <a:rPr lang="en-US" b="true" sz="5415">
                <a:solidFill>
                  <a:srgbClr val="000000"/>
                </a:solidFill>
                <a:latin typeface="Neue Machina Ultra-Bold"/>
                <a:ea typeface="Neue Machina Ultra-Bold"/>
                <a:cs typeface="Neue Machina Ultra-Bold"/>
                <a:sym typeface="Neue Machina Ultra-Bold"/>
              </a:rPr>
              <a:t>LATAR BELAKANG</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4159795" y="1505992"/>
            <a:ext cx="12621709" cy="3927252"/>
            <a:chOff x="0" y="0"/>
            <a:chExt cx="3229985" cy="1005012"/>
          </a:xfrm>
        </p:grpSpPr>
        <p:sp>
          <p:nvSpPr>
            <p:cNvPr name="Freeform 3" id="3"/>
            <p:cNvSpPr/>
            <p:nvPr/>
          </p:nvSpPr>
          <p:spPr>
            <a:xfrm flipH="false" flipV="false" rot="0">
              <a:off x="0" y="0"/>
              <a:ext cx="3229985" cy="1005012"/>
            </a:xfrm>
            <a:custGeom>
              <a:avLst/>
              <a:gdLst/>
              <a:ahLst/>
              <a:cxnLst/>
              <a:rect r="r" b="b" t="t" l="l"/>
              <a:pathLst>
                <a:path h="1005012" w="3229985">
                  <a:moveTo>
                    <a:pt x="34349" y="0"/>
                  </a:moveTo>
                  <a:lnTo>
                    <a:pt x="3195636" y="0"/>
                  </a:lnTo>
                  <a:cubicBezTo>
                    <a:pt x="3204746" y="0"/>
                    <a:pt x="3213483" y="3619"/>
                    <a:pt x="3219924" y="10061"/>
                  </a:cubicBezTo>
                  <a:cubicBezTo>
                    <a:pt x="3226366" y="16502"/>
                    <a:pt x="3229985" y="25239"/>
                    <a:pt x="3229985" y="34349"/>
                  </a:cubicBezTo>
                  <a:lnTo>
                    <a:pt x="3229985" y="970662"/>
                  </a:lnTo>
                  <a:cubicBezTo>
                    <a:pt x="3229985" y="989633"/>
                    <a:pt x="3214606" y="1005012"/>
                    <a:pt x="3195636" y="1005012"/>
                  </a:cubicBezTo>
                  <a:lnTo>
                    <a:pt x="34349" y="1005012"/>
                  </a:lnTo>
                  <a:cubicBezTo>
                    <a:pt x="25239" y="1005012"/>
                    <a:pt x="16502" y="1001393"/>
                    <a:pt x="10061" y="994951"/>
                  </a:cubicBezTo>
                  <a:cubicBezTo>
                    <a:pt x="3619" y="988509"/>
                    <a:pt x="0" y="979772"/>
                    <a:pt x="0" y="970662"/>
                  </a:cubicBezTo>
                  <a:lnTo>
                    <a:pt x="0" y="34349"/>
                  </a:lnTo>
                  <a:cubicBezTo>
                    <a:pt x="0" y="15379"/>
                    <a:pt x="15379" y="0"/>
                    <a:pt x="34349" y="0"/>
                  </a:cubicBezTo>
                  <a:close/>
                </a:path>
              </a:pathLst>
            </a:custGeom>
            <a:solidFill>
              <a:srgbClr val="FAFAFA"/>
            </a:solidFill>
            <a:ln w="38100" cap="rnd">
              <a:solidFill>
                <a:srgbClr val="000000"/>
              </a:solidFill>
              <a:prstDash val="solid"/>
              <a:round/>
            </a:ln>
          </p:spPr>
        </p:sp>
        <p:sp>
          <p:nvSpPr>
            <p:cNvPr name="TextBox 4" id="4"/>
            <p:cNvSpPr txBox="true"/>
            <p:nvPr/>
          </p:nvSpPr>
          <p:spPr>
            <a:xfrm>
              <a:off x="0" y="-47625"/>
              <a:ext cx="3229985" cy="105263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0" y="0"/>
            <a:ext cx="3763775" cy="10287000"/>
            <a:chOff x="0" y="0"/>
            <a:chExt cx="346742" cy="947703"/>
          </a:xfrm>
        </p:grpSpPr>
        <p:sp>
          <p:nvSpPr>
            <p:cNvPr name="Freeform 6" id="6"/>
            <p:cNvSpPr/>
            <p:nvPr/>
          </p:nvSpPr>
          <p:spPr>
            <a:xfrm flipH="false" flipV="false" rot="0">
              <a:off x="0" y="0"/>
              <a:ext cx="346742" cy="947703"/>
            </a:xfrm>
            <a:custGeom>
              <a:avLst/>
              <a:gdLst/>
              <a:ahLst/>
              <a:cxnLst/>
              <a:rect r="r" b="b" t="t" l="l"/>
              <a:pathLst>
                <a:path h="947703" w="346742">
                  <a:moveTo>
                    <a:pt x="0" y="0"/>
                  </a:moveTo>
                  <a:lnTo>
                    <a:pt x="346742" y="0"/>
                  </a:lnTo>
                  <a:lnTo>
                    <a:pt x="346742" y="947703"/>
                  </a:lnTo>
                  <a:lnTo>
                    <a:pt x="0" y="947703"/>
                  </a:lnTo>
                  <a:close/>
                </a:path>
              </a:pathLst>
            </a:custGeom>
            <a:solidFill>
              <a:srgbClr val="C6FF4D"/>
            </a:solidFill>
          </p:spPr>
        </p:sp>
        <p:sp>
          <p:nvSpPr>
            <p:cNvPr name="TextBox 7" id="7"/>
            <p:cNvSpPr txBox="true"/>
            <p:nvPr/>
          </p:nvSpPr>
          <p:spPr>
            <a:xfrm>
              <a:off x="0" y="-47625"/>
              <a:ext cx="346742" cy="995328"/>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5400000">
            <a:off x="-793526" y="6484013"/>
            <a:ext cx="5216608" cy="331966"/>
          </a:xfrm>
          <a:custGeom>
            <a:avLst/>
            <a:gdLst/>
            <a:ahLst/>
            <a:cxnLst/>
            <a:rect r="r" b="b" t="t" l="l"/>
            <a:pathLst>
              <a:path h="331966" w="5216608">
                <a:moveTo>
                  <a:pt x="0" y="0"/>
                </a:moveTo>
                <a:lnTo>
                  <a:pt x="5216608" y="0"/>
                </a:lnTo>
                <a:lnTo>
                  <a:pt x="5216608" y="331966"/>
                </a:lnTo>
                <a:lnTo>
                  <a:pt x="0" y="331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795607" y="1028700"/>
            <a:ext cx="2172561" cy="1710398"/>
          </a:xfrm>
          <a:custGeom>
            <a:avLst/>
            <a:gdLst/>
            <a:ahLst/>
            <a:cxnLst/>
            <a:rect r="r" b="b" t="t" l="l"/>
            <a:pathLst>
              <a:path h="1710398" w="2172561">
                <a:moveTo>
                  <a:pt x="0" y="0"/>
                </a:moveTo>
                <a:lnTo>
                  <a:pt x="2172561" y="0"/>
                </a:lnTo>
                <a:lnTo>
                  <a:pt x="2172561" y="1710398"/>
                </a:lnTo>
                <a:lnTo>
                  <a:pt x="0" y="17103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6575159" y="7587681"/>
            <a:ext cx="3425681" cy="5398638"/>
          </a:xfrm>
          <a:custGeom>
            <a:avLst/>
            <a:gdLst/>
            <a:ahLst/>
            <a:cxnLst/>
            <a:rect r="r" b="b" t="t" l="l"/>
            <a:pathLst>
              <a:path h="5398638" w="3425681">
                <a:moveTo>
                  <a:pt x="0" y="0"/>
                </a:moveTo>
                <a:lnTo>
                  <a:pt x="3425682" y="0"/>
                </a:lnTo>
                <a:lnTo>
                  <a:pt x="3425682" y="5398638"/>
                </a:lnTo>
                <a:lnTo>
                  <a:pt x="0" y="539863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4465816" y="1804901"/>
            <a:ext cx="11937362" cy="3648075"/>
          </a:xfrm>
          <a:prstGeom prst="rect">
            <a:avLst/>
          </a:prstGeom>
        </p:spPr>
        <p:txBody>
          <a:bodyPr anchor="t" rtlCol="false" tIns="0" lIns="0" bIns="0" rIns="0">
            <a:spAutoFit/>
          </a:bodyPr>
          <a:lstStyle/>
          <a:p>
            <a:pPr algn="just" marL="647698" indent="-323849" lvl="1">
              <a:lnSpc>
                <a:spcPts val="4199"/>
              </a:lnSpc>
              <a:buFont typeface="Arial"/>
              <a:buChar char="•"/>
            </a:pPr>
            <a:r>
              <a:rPr lang="en-US" sz="2999">
                <a:solidFill>
                  <a:srgbClr val="000000"/>
                </a:solidFill>
                <a:latin typeface="Raleway"/>
                <a:ea typeface="Raleway"/>
                <a:cs typeface="Raleway"/>
                <a:sym typeface="Raleway"/>
              </a:rPr>
              <a:t>Bagaimana mengumpulkan data review pengguna dari Google Play Store?</a:t>
            </a:r>
          </a:p>
          <a:p>
            <a:pPr algn="just" marL="647698" indent="-323849" lvl="1">
              <a:lnSpc>
                <a:spcPts val="4199"/>
              </a:lnSpc>
              <a:buFont typeface="Arial"/>
              <a:buChar char="•"/>
            </a:pPr>
            <a:r>
              <a:rPr lang="en-US" sz="2999">
                <a:solidFill>
                  <a:srgbClr val="000000"/>
                </a:solidFill>
                <a:latin typeface="Raleway"/>
                <a:ea typeface="Raleway"/>
                <a:cs typeface="Raleway"/>
                <a:sym typeface="Raleway"/>
              </a:rPr>
              <a:t>Bagaimana melakukan analisis sentimen terhadap review aplikasi berita?</a:t>
            </a:r>
          </a:p>
          <a:p>
            <a:pPr algn="just" marL="647698" indent="-323849" lvl="1">
              <a:lnSpc>
                <a:spcPts val="4199"/>
              </a:lnSpc>
              <a:buFont typeface="Arial"/>
              <a:buChar char="•"/>
            </a:pPr>
            <a:r>
              <a:rPr lang="en-US" sz="2999">
                <a:solidFill>
                  <a:srgbClr val="000000"/>
                </a:solidFill>
                <a:latin typeface="Raleway"/>
                <a:ea typeface="Raleway"/>
                <a:cs typeface="Raleway"/>
                <a:sym typeface="Raleway"/>
              </a:rPr>
              <a:t>Bagaimana mengetahui persepsi pengguna terhadap aplikasi berita digital?</a:t>
            </a:r>
          </a:p>
          <a:p>
            <a:pPr algn="just">
              <a:lnSpc>
                <a:spcPts val="4199"/>
              </a:lnSpc>
            </a:pPr>
          </a:p>
        </p:txBody>
      </p:sp>
      <p:sp>
        <p:nvSpPr>
          <p:cNvPr name="Freeform 12" id="12"/>
          <p:cNvSpPr/>
          <p:nvPr/>
        </p:nvSpPr>
        <p:spPr>
          <a:xfrm flipH="false" flipV="false" rot="0">
            <a:off x="16953485" y="1384255"/>
            <a:ext cx="955592" cy="955592"/>
          </a:xfrm>
          <a:custGeom>
            <a:avLst/>
            <a:gdLst/>
            <a:ahLst/>
            <a:cxnLst/>
            <a:rect r="r" b="b" t="t" l="l"/>
            <a:pathLst>
              <a:path h="955592" w="955592">
                <a:moveTo>
                  <a:pt x="0" y="0"/>
                </a:moveTo>
                <a:lnTo>
                  <a:pt x="955592" y="0"/>
                </a:lnTo>
                <a:lnTo>
                  <a:pt x="955592" y="955592"/>
                </a:lnTo>
                <a:lnTo>
                  <a:pt x="0" y="9555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3" id="13"/>
          <p:cNvSpPr txBox="true"/>
          <p:nvPr/>
        </p:nvSpPr>
        <p:spPr>
          <a:xfrm rot="0">
            <a:off x="4331777" y="742950"/>
            <a:ext cx="9055627" cy="763042"/>
          </a:xfrm>
          <a:prstGeom prst="rect">
            <a:avLst/>
          </a:prstGeom>
        </p:spPr>
        <p:txBody>
          <a:bodyPr anchor="t" rtlCol="false" tIns="0" lIns="0" bIns="0" rIns="0">
            <a:spAutoFit/>
          </a:bodyPr>
          <a:lstStyle/>
          <a:p>
            <a:pPr algn="l">
              <a:lnSpc>
                <a:spcPts val="5740"/>
              </a:lnSpc>
            </a:pPr>
            <a:r>
              <a:rPr lang="en-US" b="true" sz="5415">
                <a:solidFill>
                  <a:srgbClr val="000000"/>
                </a:solidFill>
                <a:latin typeface="Neue Machina Ultra-Bold"/>
                <a:ea typeface="Neue Machina Ultra-Bold"/>
                <a:cs typeface="Neue Machina Ultra-Bold"/>
                <a:sym typeface="Neue Machina Ultra-Bold"/>
              </a:rPr>
              <a:t>RUMUSAN MASALAH</a:t>
            </a:r>
          </a:p>
        </p:txBody>
      </p:sp>
      <p:sp>
        <p:nvSpPr>
          <p:cNvPr name="TextBox 14" id="14"/>
          <p:cNvSpPr txBox="true"/>
          <p:nvPr/>
        </p:nvSpPr>
        <p:spPr>
          <a:xfrm rot="0">
            <a:off x="4465816" y="6042845"/>
            <a:ext cx="9055627" cy="763042"/>
          </a:xfrm>
          <a:prstGeom prst="rect">
            <a:avLst/>
          </a:prstGeom>
        </p:spPr>
        <p:txBody>
          <a:bodyPr anchor="t" rtlCol="false" tIns="0" lIns="0" bIns="0" rIns="0">
            <a:spAutoFit/>
          </a:bodyPr>
          <a:lstStyle/>
          <a:p>
            <a:pPr algn="l">
              <a:lnSpc>
                <a:spcPts val="5740"/>
              </a:lnSpc>
            </a:pPr>
            <a:r>
              <a:rPr lang="en-US" b="true" sz="5415">
                <a:solidFill>
                  <a:srgbClr val="000000"/>
                </a:solidFill>
                <a:latin typeface="Neue Machina Ultra-Bold"/>
                <a:ea typeface="Neue Machina Ultra-Bold"/>
                <a:cs typeface="Neue Machina Ultra-Bold"/>
                <a:sym typeface="Neue Machina Ultra-Bold"/>
              </a:rPr>
              <a:t>TUJUAN</a:t>
            </a:r>
          </a:p>
        </p:txBody>
      </p:sp>
      <p:grpSp>
        <p:nvGrpSpPr>
          <p:cNvPr name="Group 15" id="15"/>
          <p:cNvGrpSpPr/>
          <p:nvPr/>
        </p:nvGrpSpPr>
        <p:grpSpPr>
          <a:xfrm rot="0">
            <a:off x="4331777" y="6805887"/>
            <a:ext cx="12621709" cy="3002813"/>
            <a:chOff x="0" y="0"/>
            <a:chExt cx="3229985" cy="768441"/>
          </a:xfrm>
        </p:grpSpPr>
        <p:sp>
          <p:nvSpPr>
            <p:cNvPr name="Freeform 16" id="16"/>
            <p:cNvSpPr/>
            <p:nvPr/>
          </p:nvSpPr>
          <p:spPr>
            <a:xfrm flipH="false" flipV="false" rot="0">
              <a:off x="0" y="0"/>
              <a:ext cx="3229985" cy="768441"/>
            </a:xfrm>
            <a:custGeom>
              <a:avLst/>
              <a:gdLst/>
              <a:ahLst/>
              <a:cxnLst/>
              <a:rect r="r" b="b" t="t" l="l"/>
              <a:pathLst>
                <a:path h="768441" w="3229985">
                  <a:moveTo>
                    <a:pt x="34349" y="0"/>
                  </a:moveTo>
                  <a:lnTo>
                    <a:pt x="3195636" y="0"/>
                  </a:lnTo>
                  <a:cubicBezTo>
                    <a:pt x="3204746" y="0"/>
                    <a:pt x="3213483" y="3619"/>
                    <a:pt x="3219924" y="10061"/>
                  </a:cubicBezTo>
                  <a:cubicBezTo>
                    <a:pt x="3226366" y="16502"/>
                    <a:pt x="3229985" y="25239"/>
                    <a:pt x="3229985" y="34349"/>
                  </a:cubicBezTo>
                  <a:lnTo>
                    <a:pt x="3229985" y="734092"/>
                  </a:lnTo>
                  <a:cubicBezTo>
                    <a:pt x="3229985" y="753062"/>
                    <a:pt x="3214606" y="768441"/>
                    <a:pt x="3195636" y="768441"/>
                  </a:cubicBezTo>
                  <a:lnTo>
                    <a:pt x="34349" y="768441"/>
                  </a:lnTo>
                  <a:cubicBezTo>
                    <a:pt x="15379" y="768441"/>
                    <a:pt x="0" y="753062"/>
                    <a:pt x="0" y="734092"/>
                  </a:cubicBezTo>
                  <a:lnTo>
                    <a:pt x="0" y="34349"/>
                  </a:lnTo>
                  <a:cubicBezTo>
                    <a:pt x="0" y="15379"/>
                    <a:pt x="15379" y="0"/>
                    <a:pt x="34349" y="0"/>
                  </a:cubicBezTo>
                  <a:close/>
                </a:path>
              </a:pathLst>
            </a:custGeom>
            <a:solidFill>
              <a:srgbClr val="FAFAFA"/>
            </a:solidFill>
            <a:ln w="38100" cap="rnd">
              <a:solidFill>
                <a:srgbClr val="000000"/>
              </a:solidFill>
              <a:prstDash val="solid"/>
              <a:round/>
            </a:ln>
          </p:spPr>
        </p:sp>
        <p:sp>
          <p:nvSpPr>
            <p:cNvPr name="TextBox 17" id="17"/>
            <p:cNvSpPr txBox="true"/>
            <p:nvPr/>
          </p:nvSpPr>
          <p:spPr>
            <a:xfrm>
              <a:off x="0" y="-47625"/>
              <a:ext cx="3229985" cy="816066"/>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4637798" y="7296689"/>
            <a:ext cx="11937362" cy="2076450"/>
          </a:xfrm>
          <a:prstGeom prst="rect">
            <a:avLst/>
          </a:prstGeom>
        </p:spPr>
        <p:txBody>
          <a:bodyPr anchor="t" rtlCol="false" tIns="0" lIns="0" bIns="0" rIns="0">
            <a:spAutoFit/>
          </a:bodyPr>
          <a:lstStyle/>
          <a:p>
            <a:pPr algn="l" marL="647698" indent="-323849" lvl="1">
              <a:lnSpc>
                <a:spcPts val="4199"/>
              </a:lnSpc>
              <a:buFont typeface="Arial"/>
              <a:buChar char="•"/>
            </a:pPr>
            <a:r>
              <a:rPr lang="en-US" sz="2999">
                <a:solidFill>
                  <a:srgbClr val="000000"/>
                </a:solidFill>
                <a:latin typeface="Raleway"/>
                <a:ea typeface="Raleway"/>
                <a:cs typeface="Raleway"/>
                <a:sym typeface="Raleway"/>
              </a:rPr>
              <a:t>Mengumpulkan dan melakukan preprocessing data review pengguna dari Google Play Store.</a:t>
            </a:r>
          </a:p>
          <a:p>
            <a:pPr algn="l" marL="647698" indent="-323849" lvl="1">
              <a:lnSpc>
                <a:spcPts val="4199"/>
              </a:lnSpc>
              <a:buFont typeface="Arial"/>
              <a:buChar char="•"/>
            </a:pPr>
            <a:r>
              <a:rPr lang="en-US" sz="2999">
                <a:solidFill>
                  <a:srgbClr val="000000"/>
                </a:solidFill>
                <a:latin typeface="Raleway"/>
                <a:ea typeface="Raleway"/>
                <a:cs typeface="Raleway"/>
                <a:sym typeface="Raleway"/>
              </a:rPr>
              <a:t>Mengklasifikasikan sentimen review untuk mengetahui persepsi pengguna terhadap aplikasi berita.</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7140492" y="0"/>
            <a:ext cx="955592" cy="955592"/>
          </a:xfrm>
          <a:custGeom>
            <a:avLst/>
            <a:gdLst/>
            <a:ahLst/>
            <a:cxnLst/>
            <a:rect r="r" b="b" t="t" l="l"/>
            <a:pathLst>
              <a:path h="955592" w="955592">
                <a:moveTo>
                  <a:pt x="0" y="0"/>
                </a:moveTo>
                <a:lnTo>
                  <a:pt x="955592" y="0"/>
                </a:lnTo>
                <a:lnTo>
                  <a:pt x="955592" y="955592"/>
                </a:lnTo>
                <a:lnTo>
                  <a:pt x="0" y="955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515291" y="76200"/>
            <a:ext cx="10211678" cy="848699"/>
          </a:xfrm>
          <a:prstGeom prst="rect">
            <a:avLst/>
          </a:prstGeom>
        </p:spPr>
        <p:txBody>
          <a:bodyPr anchor="t" rtlCol="false" tIns="0" lIns="0" bIns="0" rIns="0">
            <a:spAutoFit/>
          </a:bodyPr>
          <a:lstStyle/>
          <a:p>
            <a:pPr algn="l">
              <a:lnSpc>
                <a:spcPts val="6473"/>
              </a:lnSpc>
            </a:pPr>
            <a:r>
              <a:rPr lang="en-US" b="true" sz="6107">
                <a:solidFill>
                  <a:srgbClr val="000000"/>
                </a:solidFill>
                <a:latin typeface="Neue Machina Ultra-Bold"/>
                <a:ea typeface="Neue Machina Ultra-Bold"/>
                <a:cs typeface="Neue Machina Ultra-Bold"/>
                <a:sym typeface="Neue Machina Ultra-Bold"/>
              </a:rPr>
              <a:t>METODE</a:t>
            </a:r>
          </a:p>
        </p:txBody>
      </p:sp>
      <p:grpSp>
        <p:nvGrpSpPr>
          <p:cNvPr name="Group 4" id="4"/>
          <p:cNvGrpSpPr/>
          <p:nvPr/>
        </p:nvGrpSpPr>
        <p:grpSpPr>
          <a:xfrm rot="0">
            <a:off x="515291" y="1847953"/>
            <a:ext cx="12667960" cy="2292870"/>
            <a:chOff x="0" y="0"/>
            <a:chExt cx="3241821" cy="586762"/>
          </a:xfrm>
        </p:grpSpPr>
        <p:sp>
          <p:nvSpPr>
            <p:cNvPr name="Freeform 5" id="5"/>
            <p:cNvSpPr/>
            <p:nvPr/>
          </p:nvSpPr>
          <p:spPr>
            <a:xfrm flipH="false" flipV="false" rot="0">
              <a:off x="0" y="0"/>
              <a:ext cx="3241821" cy="586762"/>
            </a:xfrm>
            <a:custGeom>
              <a:avLst/>
              <a:gdLst/>
              <a:ahLst/>
              <a:cxnLst/>
              <a:rect r="r" b="b" t="t" l="l"/>
              <a:pathLst>
                <a:path h="586762" w="3241821">
                  <a:moveTo>
                    <a:pt x="34224" y="0"/>
                  </a:moveTo>
                  <a:lnTo>
                    <a:pt x="3207597" y="0"/>
                  </a:lnTo>
                  <a:cubicBezTo>
                    <a:pt x="3226498" y="0"/>
                    <a:pt x="3241821" y="15323"/>
                    <a:pt x="3241821" y="34224"/>
                  </a:cubicBezTo>
                  <a:lnTo>
                    <a:pt x="3241821" y="552538"/>
                  </a:lnTo>
                  <a:cubicBezTo>
                    <a:pt x="3241821" y="571439"/>
                    <a:pt x="3226498" y="586762"/>
                    <a:pt x="3207597" y="586762"/>
                  </a:cubicBezTo>
                  <a:lnTo>
                    <a:pt x="34224" y="586762"/>
                  </a:lnTo>
                  <a:cubicBezTo>
                    <a:pt x="15323" y="586762"/>
                    <a:pt x="0" y="571439"/>
                    <a:pt x="0" y="552538"/>
                  </a:cubicBezTo>
                  <a:lnTo>
                    <a:pt x="0" y="34224"/>
                  </a:lnTo>
                  <a:cubicBezTo>
                    <a:pt x="0" y="15323"/>
                    <a:pt x="15323" y="0"/>
                    <a:pt x="34224" y="0"/>
                  </a:cubicBezTo>
                  <a:close/>
                </a:path>
              </a:pathLst>
            </a:custGeom>
            <a:solidFill>
              <a:srgbClr val="FAFAFA"/>
            </a:solidFill>
            <a:ln w="38100" cap="rnd">
              <a:solidFill>
                <a:srgbClr val="000000"/>
              </a:solidFill>
              <a:prstDash val="solid"/>
              <a:round/>
            </a:ln>
          </p:spPr>
        </p:sp>
        <p:sp>
          <p:nvSpPr>
            <p:cNvPr name="TextBox 6" id="6"/>
            <p:cNvSpPr txBox="true"/>
            <p:nvPr/>
          </p:nvSpPr>
          <p:spPr>
            <a:xfrm>
              <a:off x="0" y="-47625"/>
              <a:ext cx="3241821" cy="634387"/>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515291" y="1248710"/>
            <a:ext cx="6895349" cy="1198486"/>
            <a:chOff x="0" y="0"/>
            <a:chExt cx="4676349" cy="812800"/>
          </a:xfrm>
        </p:grpSpPr>
        <p:sp>
          <p:nvSpPr>
            <p:cNvPr name="Freeform 8" id="8"/>
            <p:cNvSpPr/>
            <p:nvPr/>
          </p:nvSpPr>
          <p:spPr>
            <a:xfrm flipH="false" flipV="false" rot="0">
              <a:off x="0" y="0"/>
              <a:ext cx="4676349" cy="812800"/>
            </a:xfrm>
            <a:custGeom>
              <a:avLst/>
              <a:gdLst/>
              <a:ahLst/>
              <a:cxnLst/>
              <a:rect r="r" b="b" t="t" l="l"/>
              <a:pathLst>
                <a:path h="812800" w="4676349">
                  <a:moveTo>
                    <a:pt x="2338175" y="0"/>
                  </a:moveTo>
                  <a:cubicBezTo>
                    <a:pt x="1046836" y="0"/>
                    <a:pt x="0" y="181951"/>
                    <a:pt x="0" y="406400"/>
                  </a:cubicBezTo>
                  <a:cubicBezTo>
                    <a:pt x="0" y="630849"/>
                    <a:pt x="1046836" y="812800"/>
                    <a:pt x="2338175" y="812800"/>
                  </a:cubicBezTo>
                  <a:cubicBezTo>
                    <a:pt x="3629513" y="812800"/>
                    <a:pt x="4676349" y="630849"/>
                    <a:pt x="4676349" y="406400"/>
                  </a:cubicBezTo>
                  <a:cubicBezTo>
                    <a:pt x="4676349" y="181951"/>
                    <a:pt x="3629513" y="0"/>
                    <a:pt x="2338175" y="0"/>
                  </a:cubicBezTo>
                  <a:close/>
                </a:path>
              </a:pathLst>
            </a:custGeom>
            <a:solidFill>
              <a:srgbClr val="C6FF4D"/>
            </a:solidFill>
            <a:ln w="38100" cap="sq">
              <a:solidFill>
                <a:srgbClr val="000000"/>
              </a:solidFill>
              <a:prstDash val="solid"/>
              <a:miter/>
            </a:ln>
          </p:spPr>
        </p:sp>
        <p:sp>
          <p:nvSpPr>
            <p:cNvPr name="TextBox 9" id="9"/>
            <p:cNvSpPr txBox="true"/>
            <p:nvPr/>
          </p:nvSpPr>
          <p:spPr>
            <a:xfrm>
              <a:off x="438408" y="9525"/>
              <a:ext cx="3799534" cy="727075"/>
            </a:xfrm>
            <a:prstGeom prst="rect">
              <a:avLst/>
            </a:prstGeom>
          </p:spPr>
          <p:txBody>
            <a:bodyPr anchor="ctr" rtlCol="false" tIns="50800" lIns="50800" bIns="50800" rIns="50800"/>
            <a:lstStyle/>
            <a:p>
              <a:pPr algn="ctr">
                <a:lnSpc>
                  <a:spcPts val="4899"/>
                </a:lnSpc>
              </a:pPr>
              <a:r>
                <a:rPr lang="en-US" b="true" sz="3499">
                  <a:solidFill>
                    <a:srgbClr val="000000"/>
                  </a:solidFill>
                  <a:latin typeface="Neue Machina Ultra-Bold"/>
                  <a:ea typeface="Neue Machina Ultra-Bold"/>
                  <a:cs typeface="Neue Machina Ultra-Bold"/>
                  <a:sym typeface="Neue Machina Ultra-Bold"/>
                </a:rPr>
                <a:t>Metode Scraping Data</a:t>
              </a:r>
            </a:p>
          </p:txBody>
        </p:sp>
      </p:grpSp>
      <p:sp>
        <p:nvSpPr>
          <p:cNvPr name="TextBox 10" id="10"/>
          <p:cNvSpPr txBox="true"/>
          <p:nvPr/>
        </p:nvSpPr>
        <p:spPr>
          <a:xfrm rot="0">
            <a:off x="1103093" y="2477457"/>
            <a:ext cx="11911659" cy="1390606"/>
          </a:xfrm>
          <a:prstGeom prst="rect">
            <a:avLst/>
          </a:prstGeom>
        </p:spPr>
        <p:txBody>
          <a:bodyPr anchor="t" rtlCol="false" tIns="0" lIns="0" bIns="0" rIns="0">
            <a:spAutoFit/>
          </a:bodyPr>
          <a:lstStyle/>
          <a:p>
            <a:pPr algn="just">
              <a:lnSpc>
                <a:spcPts val="3677"/>
              </a:lnSpc>
            </a:pPr>
            <a:r>
              <a:rPr lang="en-US" sz="2626">
                <a:solidFill>
                  <a:srgbClr val="000000"/>
                </a:solidFill>
                <a:latin typeface="Raleway"/>
                <a:ea typeface="Raleway"/>
                <a:cs typeface="Raleway"/>
                <a:sym typeface="Raleway"/>
              </a:rPr>
              <a:t>Metode scraping data digunakan untuk mengambil ulasan terbaru aplikasi Detikcom dari Google Play Store secara otomatis menggunakan library google_play_scraper.</a:t>
            </a:r>
          </a:p>
        </p:txBody>
      </p:sp>
      <p:grpSp>
        <p:nvGrpSpPr>
          <p:cNvPr name="Group 11" id="11"/>
          <p:cNvGrpSpPr/>
          <p:nvPr/>
        </p:nvGrpSpPr>
        <p:grpSpPr>
          <a:xfrm rot="0">
            <a:off x="515291" y="4825791"/>
            <a:ext cx="12667960" cy="2292870"/>
            <a:chOff x="0" y="0"/>
            <a:chExt cx="3241821" cy="586762"/>
          </a:xfrm>
        </p:grpSpPr>
        <p:sp>
          <p:nvSpPr>
            <p:cNvPr name="Freeform 12" id="12"/>
            <p:cNvSpPr/>
            <p:nvPr/>
          </p:nvSpPr>
          <p:spPr>
            <a:xfrm flipH="false" flipV="false" rot="0">
              <a:off x="0" y="0"/>
              <a:ext cx="3241821" cy="586762"/>
            </a:xfrm>
            <a:custGeom>
              <a:avLst/>
              <a:gdLst/>
              <a:ahLst/>
              <a:cxnLst/>
              <a:rect r="r" b="b" t="t" l="l"/>
              <a:pathLst>
                <a:path h="586762" w="3241821">
                  <a:moveTo>
                    <a:pt x="34224" y="0"/>
                  </a:moveTo>
                  <a:lnTo>
                    <a:pt x="3207597" y="0"/>
                  </a:lnTo>
                  <a:cubicBezTo>
                    <a:pt x="3226498" y="0"/>
                    <a:pt x="3241821" y="15323"/>
                    <a:pt x="3241821" y="34224"/>
                  </a:cubicBezTo>
                  <a:lnTo>
                    <a:pt x="3241821" y="552538"/>
                  </a:lnTo>
                  <a:cubicBezTo>
                    <a:pt x="3241821" y="571439"/>
                    <a:pt x="3226498" y="586762"/>
                    <a:pt x="3207597" y="586762"/>
                  </a:cubicBezTo>
                  <a:lnTo>
                    <a:pt x="34224" y="586762"/>
                  </a:lnTo>
                  <a:cubicBezTo>
                    <a:pt x="15323" y="586762"/>
                    <a:pt x="0" y="571439"/>
                    <a:pt x="0" y="552538"/>
                  </a:cubicBezTo>
                  <a:lnTo>
                    <a:pt x="0" y="34224"/>
                  </a:lnTo>
                  <a:cubicBezTo>
                    <a:pt x="0" y="15323"/>
                    <a:pt x="15323" y="0"/>
                    <a:pt x="34224" y="0"/>
                  </a:cubicBezTo>
                  <a:close/>
                </a:path>
              </a:pathLst>
            </a:custGeom>
            <a:solidFill>
              <a:srgbClr val="FAFAFA"/>
            </a:solidFill>
            <a:ln w="38100" cap="rnd">
              <a:solidFill>
                <a:srgbClr val="000000"/>
              </a:solidFill>
              <a:prstDash val="solid"/>
              <a:round/>
            </a:ln>
          </p:spPr>
        </p:sp>
        <p:sp>
          <p:nvSpPr>
            <p:cNvPr name="TextBox 13" id="13"/>
            <p:cNvSpPr txBox="true"/>
            <p:nvPr/>
          </p:nvSpPr>
          <p:spPr>
            <a:xfrm>
              <a:off x="0" y="-47625"/>
              <a:ext cx="3241821" cy="634387"/>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515291" y="4140823"/>
            <a:ext cx="8894455" cy="1198486"/>
            <a:chOff x="0" y="0"/>
            <a:chExt cx="6032120" cy="812800"/>
          </a:xfrm>
        </p:grpSpPr>
        <p:sp>
          <p:nvSpPr>
            <p:cNvPr name="Freeform 15" id="15"/>
            <p:cNvSpPr/>
            <p:nvPr/>
          </p:nvSpPr>
          <p:spPr>
            <a:xfrm flipH="false" flipV="false" rot="0">
              <a:off x="0" y="0"/>
              <a:ext cx="6032121" cy="812800"/>
            </a:xfrm>
            <a:custGeom>
              <a:avLst/>
              <a:gdLst/>
              <a:ahLst/>
              <a:cxnLst/>
              <a:rect r="r" b="b" t="t" l="l"/>
              <a:pathLst>
                <a:path h="812800" w="6032121">
                  <a:moveTo>
                    <a:pt x="3016060" y="0"/>
                  </a:moveTo>
                  <a:cubicBezTo>
                    <a:pt x="1350336" y="0"/>
                    <a:pt x="0" y="181951"/>
                    <a:pt x="0" y="406400"/>
                  </a:cubicBezTo>
                  <a:cubicBezTo>
                    <a:pt x="0" y="630849"/>
                    <a:pt x="1350336" y="812800"/>
                    <a:pt x="3016060" y="812800"/>
                  </a:cubicBezTo>
                  <a:cubicBezTo>
                    <a:pt x="4681784" y="812800"/>
                    <a:pt x="6032121" y="630849"/>
                    <a:pt x="6032121" y="406400"/>
                  </a:cubicBezTo>
                  <a:cubicBezTo>
                    <a:pt x="6032121" y="181951"/>
                    <a:pt x="4681784" y="0"/>
                    <a:pt x="3016060" y="0"/>
                  </a:cubicBezTo>
                  <a:close/>
                </a:path>
              </a:pathLst>
            </a:custGeom>
            <a:solidFill>
              <a:srgbClr val="C6FF4D"/>
            </a:solidFill>
            <a:ln w="38100" cap="sq">
              <a:solidFill>
                <a:srgbClr val="000000"/>
              </a:solidFill>
              <a:prstDash val="solid"/>
              <a:miter/>
            </a:ln>
          </p:spPr>
        </p:sp>
        <p:sp>
          <p:nvSpPr>
            <p:cNvPr name="TextBox 16" id="16"/>
            <p:cNvSpPr txBox="true"/>
            <p:nvPr/>
          </p:nvSpPr>
          <p:spPr>
            <a:xfrm>
              <a:off x="565511" y="9525"/>
              <a:ext cx="4901098" cy="727075"/>
            </a:xfrm>
            <a:prstGeom prst="rect">
              <a:avLst/>
            </a:prstGeom>
          </p:spPr>
          <p:txBody>
            <a:bodyPr anchor="ctr" rtlCol="false" tIns="50800" lIns="50800" bIns="50800" rIns="50800"/>
            <a:lstStyle/>
            <a:p>
              <a:pPr algn="ctr">
                <a:lnSpc>
                  <a:spcPts val="4899"/>
                </a:lnSpc>
              </a:pPr>
              <a:r>
                <a:rPr lang="en-US" b="true" sz="3499">
                  <a:solidFill>
                    <a:srgbClr val="000000"/>
                  </a:solidFill>
                  <a:latin typeface="Neue Machina Ultra-Bold"/>
                  <a:ea typeface="Neue Machina Ultra-Bold"/>
                  <a:cs typeface="Neue Machina Ultra-Bold"/>
                  <a:sym typeface="Neue Machina Ultra-Bold"/>
                </a:rPr>
                <a:t>Metode Preprocessing Data</a:t>
              </a:r>
            </a:p>
          </p:txBody>
        </p:sp>
      </p:grpSp>
      <p:sp>
        <p:nvSpPr>
          <p:cNvPr name="TextBox 17" id="17"/>
          <p:cNvSpPr txBox="true"/>
          <p:nvPr/>
        </p:nvSpPr>
        <p:spPr>
          <a:xfrm rot="0">
            <a:off x="1103093" y="5455295"/>
            <a:ext cx="11911659" cy="1390606"/>
          </a:xfrm>
          <a:prstGeom prst="rect">
            <a:avLst/>
          </a:prstGeom>
        </p:spPr>
        <p:txBody>
          <a:bodyPr anchor="t" rtlCol="false" tIns="0" lIns="0" bIns="0" rIns="0">
            <a:spAutoFit/>
          </a:bodyPr>
          <a:lstStyle/>
          <a:p>
            <a:pPr algn="just">
              <a:lnSpc>
                <a:spcPts val="3677"/>
              </a:lnSpc>
            </a:pPr>
            <a:r>
              <a:rPr lang="en-US" sz="2626">
                <a:solidFill>
                  <a:srgbClr val="000000"/>
                </a:solidFill>
                <a:latin typeface="Raleway"/>
                <a:ea typeface="Raleway"/>
                <a:cs typeface="Raleway"/>
                <a:sym typeface="Raleway"/>
              </a:rPr>
              <a:t>Metode preprocessing data digunakan untuk membersihkan teks dengan menghapus tag HTML dan emoji agar data lebih siap untuk proses analisis selanjutnya.</a:t>
            </a:r>
          </a:p>
        </p:txBody>
      </p:sp>
      <p:grpSp>
        <p:nvGrpSpPr>
          <p:cNvPr name="Group 18" id="18"/>
          <p:cNvGrpSpPr/>
          <p:nvPr/>
        </p:nvGrpSpPr>
        <p:grpSpPr>
          <a:xfrm rot="0">
            <a:off x="515291" y="7803630"/>
            <a:ext cx="12667960" cy="2292870"/>
            <a:chOff x="0" y="0"/>
            <a:chExt cx="3241821" cy="586762"/>
          </a:xfrm>
        </p:grpSpPr>
        <p:sp>
          <p:nvSpPr>
            <p:cNvPr name="Freeform 19" id="19"/>
            <p:cNvSpPr/>
            <p:nvPr/>
          </p:nvSpPr>
          <p:spPr>
            <a:xfrm flipH="false" flipV="false" rot="0">
              <a:off x="0" y="0"/>
              <a:ext cx="3241821" cy="586762"/>
            </a:xfrm>
            <a:custGeom>
              <a:avLst/>
              <a:gdLst/>
              <a:ahLst/>
              <a:cxnLst/>
              <a:rect r="r" b="b" t="t" l="l"/>
              <a:pathLst>
                <a:path h="586762" w="3241821">
                  <a:moveTo>
                    <a:pt x="34224" y="0"/>
                  </a:moveTo>
                  <a:lnTo>
                    <a:pt x="3207597" y="0"/>
                  </a:lnTo>
                  <a:cubicBezTo>
                    <a:pt x="3226498" y="0"/>
                    <a:pt x="3241821" y="15323"/>
                    <a:pt x="3241821" y="34224"/>
                  </a:cubicBezTo>
                  <a:lnTo>
                    <a:pt x="3241821" y="552538"/>
                  </a:lnTo>
                  <a:cubicBezTo>
                    <a:pt x="3241821" y="571439"/>
                    <a:pt x="3226498" y="586762"/>
                    <a:pt x="3207597" y="586762"/>
                  </a:cubicBezTo>
                  <a:lnTo>
                    <a:pt x="34224" y="586762"/>
                  </a:lnTo>
                  <a:cubicBezTo>
                    <a:pt x="15323" y="586762"/>
                    <a:pt x="0" y="571439"/>
                    <a:pt x="0" y="552538"/>
                  </a:cubicBezTo>
                  <a:lnTo>
                    <a:pt x="0" y="34224"/>
                  </a:lnTo>
                  <a:cubicBezTo>
                    <a:pt x="0" y="15323"/>
                    <a:pt x="15323" y="0"/>
                    <a:pt x="34224" y="0"/>
                  </a:cubicBezTo>
                  <a:close/>
                </a:path>
              </a:pathLst>
            </a:custGeom>
            <a:solidFill>
              <a:srgbClr val="FAFAFA"/>
            </a:solidFill>
            <a:ln w="38100" cap="rnd">
              <a:solidFill>
                <a:srgbClr val="000000"/>
              </a:solidFill>
              <a:prstDash val="solid"/>
              <a:round/>
            </a:ln>
          </p:spPr>
        </p:sp>
        <p:sp>
          <p:nvSpPr>
            <p:cNvPr name="TextBox 20" id="20"/>
            <p:cNvSpPr txBox="true"/>
            <p:nvPr/>
          </p:nvSpPr>
          <p:spPr>
            <a:xfrm>
              <a:off x="0" y="-47625"/>
              <a:ext cx="3241821" cy="634387"/>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515291" y="7254882"/>
            <a:ext cx="7344713" cy="1062266"/>
            <a:chOff x="0" y="0"/>
            <a:chExt cx="4981102" cy="720417"/>
          </a:xfrm>
        </p:grpSpPr>
        <p:sp>
          <p:nvSpPr>
            <p:cNvPr name="Freeform 22" id="22"/>
            <p:cNvSpPr/>
            <p:nvPr/>
          </p:nvSpPr>
          <p:spPr>
            <a:xfrm flipH="false" flipV="false" rot="0">
              <a:off x="0" y="0"/>
              <a:ext cx="4981102" cy="720417"/>
            </a:xfrm>
            <a:custGeom>
              <a:avLst/>
              <a:gdLst/>
              <a:ahLst/>
              <a:cxnLst/>
              <a:rect r="r" b="b" t="t" l="l"/>
              <a:pathLst>
                <a:path h="720417" w="4981102">
                  <a:moveTo>
                    <a:pt x="2490551" y="0"/>
                  </a:moveTo>
                  <a:cubicBezTo>
                    <a:pt x="1115058" y="0"/>
                    <a:pt x="0" y="161271"/>
                    <a:pt x="0" y="360208"/>
                  </a:cubicBezTo>
                  <a:cubicBezTo>
                    <a:pt x="0" y="559146"/>
                    <a:pt x="1115058" y="720417"/>
                    <a:pt x="2490551" y="720417"/>
                  </a:cubicBezTo>
                  <a:cubicBezTo>
                    <a:pt x="3866045" y="720417"/>
                    <a:pt x="4981102" y="559146"/>
                    <a:pt x="4981102" y="360208"/>
                  </a:cubicBezTo>
                  <a:cubicBezTo>
                    <a:pt x="4981102" y="161271"/>
                    <a:pt x="3866045" y="0"/>
                    <a:pt x="2490551" y="0"/>
                  </a:cubicBezTo>
                  <a:close/>
                </a:path>
              </a:pathLst>
            </a:custGeom>
            <a:solidFill>
              <a:srgbClr val="C6FF4D"/>
            </a:solidFill>
            <a:ln w="38100" cap="sq">
              <a:solidFill>
                <a:srgbClr val="000000"/>
              </a:solidFill>
              <a:prstDash val="solid"/>
              <a:miter/>
            </a:ln>
          </p:spPr>
        </p:sp>
        <p:sp>
          <p:nvSpPr>
            <p:cNvPr name="TextBox 23" id="23"/>
            <p:cNvSpPr txBox="true"/>
            <p:nvPr/>
          </p:nvSpPr>
          <p:spPr>
            <a:xfrm>
              <a:off x="466978" y="864"/>
              <a:ext cx="4047146" cy="652014"/>
            </a:xfrm>
            <a:prstGeom prst="rect">
              <a:avLst/>
            </a:prstGeom>
          </p:spPr>
          <p:txBody>
            <a:bodyPr anchor="ctr" rtlCol="false" tIns="50800" lIns="50800" bIns="50800" rIns="50800"/>
            <a:lstStyle/>
            <a:p>
              <a:pPr algn="ctr">
                <a:lnSpc>
                  <a:spcPts val="4899"/>
                </a:lnSpc>
              </a:pPr>
              <a:r>
                <a:rPr lang="en-US" b="true" sz="3499">
                  <a:solidFill>
                    <a:srgbClr val="000000"/>
                  </a:solidFill>
                  <a:latin typeface="Neue Machina Ultra-Bold"/>
                  <a:ea typeface="Neue Machina Ultra-Bold"/>
                  <a:cs typeface="Neue Machina Ultra-Bold"/>
                  <a:sym typeface="Neue Machina Ultra-Bold"/>
                </a:rPr>
                <a:t>Metode Pelabelan Data</a:t>
              </a:r>
            </a:p>
          </p:txBody>
        </p:sp>
      </p:grpSp>
      <p:sp>
        <p:nvSpPr>
          <p:cNvPr name="TextBox 24" id="24"/>
          <p:cNvSpPr txBox="true"/>
          <p:nvPr/>
        </p:nvSpPr>
        <p:spPr>
          <a:xfrm rot="0">
            <a:off x="1103093" y="8433133"/>
            <a:ext cx="11911659" cy="1390606"/>
          </a:xfrm>
          <a:prstGeom prst="rect">
            <a:avLst/>
          </a:prstGeom>
        </p:spPr>
        <p:txBody>
          <a:bodyPr anchor="t" rtlCol="false" tIns="0" lIns="0" bIns="0" rIns="0">
            <a:spAutoFit/>
          </a:bodyPr>
          <a:lstStyle/>
          <a:p>
            <a:pPr algn="just">
              <a:lnSpc>
                <a:spcPts val="3677"/>
              </a:lnSpc>
            </a:pPr>
            <a:r>
              <a:rPr lang="en-US" sz="2626">
                <a:solidFill>
                  <a:srgbClr val="000000"/>
                </a:solidFill>
                <a:latin typeface="Raleway"/>
                <a:ea typeface="Raleway"/>
                <a:cs typeface="Raleway"/>
                <a:sym typeface="Raleway"/>
              </a:rPr>
              <a:t>Metode pelabelan data digunakan untuk menentukan sentimen (positif, negatif, netral) pada setiap ulasan berdasarkan kamus leksikon dengan menghitung skor kata dalam teks.</a:t>
            </a:r>
          </a:p>
        </p:txBody>
      </p:sp>
      <p:grpSp>
        <p:nvGrpSpPr>
          <p:cNvPr name="Group 25" id="25"/>
          <p:cNvGrpSpPr/>
          <p:nvPr/>
        </p:nvGrpSpPr>
        <p:grpSpPr>
          <a:xfrm rot="0">
            <a:off x="13515339" y="2799629"/>
            <a:ext cx="4780877" cy="7296871"/>
            <a:chOff x="0" y="0"/>
            <a:chExt cx="1223460" cy="1867321"/>
          </a:xfrm>
        </p:grpSpPr>
        <p:sp>
          <p:nvSpPr>
            <p:cNvPr name="Freeform 26" id="26"/>
            <p:cNvSpPr/>
            <p:nvPr/>
          </p:nvSpPr>
          <p:spPr>
            <a:xfrm flipH="false" flipV="false" rot="0">
              <a:off x="0" y="0"/>
              <a:ext cx="1223460" cy="1867321"/>
            </a:xfrm>
            <a:custGeom>
              <a:avLst/>
              <a:gdLst/>
              <a:ahLst/>
              <a:cxnLst/>
              <a:rect r="r" b="b" t="t" l="l"/>
              <a:pathLst>
                <a:path h="1867321" w="1223460">
                  <a:moveTo>
                    <a:pt x="90684" y="0"/>
                  </a:moveTo>
                  <a:lnTo>
                    <a:pt x="1132777" y="0"/>
                  </a:lnTo>
                  <a:cubicBezTo>
                    <a:pt x="1156828" y="0"/>
                    <a:pt x="1179893" y="9554"/>
                    <a:pt x="1196900" y="26561"/>
                  </a:cubicBezTo>
                  <a:cubicBezTo>
                    <a:pt x="1213906" y="43567"/>
                    <a:pt x="1223460" y="66633"/>
                    <a:pt x="1223460" y="90684"/>
                  </a:cubicBezTo>
                  <a:lnTo>
                    <a:pt x="1223460" y="1776638"/>
                  </a:lnTo>
                  <a:cubicBezTo>
                    <a:pt x="1223460" y="1826721"/>
                    <a:pt x="1182860" y="1867321"/>
                    <a:pt x="1132777" y="1867321"/>
                  </a:cubicBezTo>
                  <a:lnTo>
                    <a:pt x="90684" y="1867321"/>
                  </a:lnTo>
                  <a:cubicBezTo>
                    <a:pt x="40600" y="1867321"/>
                    <a:pt x="0" y="1826721"/>
                    <a:pt x="0" y="1776638"/>
                  </a:cubicBezTo>
                  <a:lnTo>
                    <a:pt x="0" y="90684"/>
                  </a:lnTo>
                  <a:cubicBezTo>
                    <a:pt x="0" y="66633"/>
                    <a:pt x="9554" y="43567"/>
                    <a:pt x="26561" y="26561"/>
                  </a:cubicBezTo>
                  <a:cubicBezTo>
                    <a:pt x="43567" y="9554"/>
                    <a:pt x="66633" y="0"/>
                    <a:pt x="90684" y="0"/>
                  </a:cubicBezTo>
                  <a:close/>
                </a:path>
              </a:pathLst>
            </a:custGeom>
            <a:solidFill>
              <a:srgbClr val="FAFAFA"/>
            </a:solidFill>
            <a:ln w="38100" cap="rnd">
              <a:solidFill>
                <a:srgbClr val="000000"/>
              </a:solidFill>
              <a:prstDash val="solid"/>
              <a:round/>
            </a:ln>
          </p:spPr>
        </p:sp>
        <p:sp>
          <p:nvSpPr>
            <p:cNvPr name="TextBox 27" id="27"/>
            <p:cNvSpPr txBox="true"/>
            <p:nvPr/>
          </p:nvSpPr>
          <p:spPr>
            <a:xfrm>
              <a:off x="0" y="-47625"/>
              <a:ext cx="1223460" cy="1914946"/>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0">
            <a:off x="13515339" y="1887496"/>
            <a:ext cx="4780877" cy="2586266"/>
            <a:chOff x="0" y="0"/>
            <a:chExt cx="3242338" cy="1753977"/>
          </a:xfrm>
        </p:grpSpPr>
        <p:sp>
          <p:nvSpPr>
            <p:cNvPr name="Freeform 29" id="29"/>
            <p:cNvSpPr/>
            <p:nvPr/>
          </p:nvSpPr>
          <p:spPr>
            <a:xfrm flipH="false" flipV="false" rot="0">
              <a:off x="0" y="0"/>
              <a:ext cx="3242338" cy="1753977"/>
            </a:xfrm>
            <a:custGeom>
              <a:avLst/>
              <a:gdLst/>
              <a:ahLst/>
              <a:cxnLst/>
              <a:rect r="r" b="b" t="t" l="l"/>
              <a:pathLst>
                <a:path h="1753977" w="3242338">
                  <a:moveTo>
                    <a:pt x="1621169" y="0"/>
                  </a:moveTo>
                  <a:cubicBezTo>
                    <a:pt x="725822" y="0"/>
                    <a:pt x="0" y="392641"/>
                    <a:pt x="0" y="876988"/>
                  </a:cubicBezTo>
                  <a:cubicBezTo>
                    <a:pt x="0" y="1361336"/>
                    <a:pt x="725822" y="1753977"/>
                    <a:pt x="1621169" y="1753977"/>
                  </a:cubicBezTo>
                  <a:cubicBezTo>
                    <a:pt x="2516516" y="1753977"/>
                    <a:pt x="3242338" y="1361336"/>
                    <a:pt x="3242338" y="876988"/>
                  </a:cubicBezTo>
                  <a:cubicBezTo>
                    <a:pt x="3242338" y="392641"/>
                    <a:pt x="2516516" y="0"/>
                    <a:pt x="1621169" y="0"/>
                  </a:cubicBezTo>
                  <a:close/>
                </a:path>
              </a:pathLst>
            </a:custGeom>
            <a:solidFill>
              <a:srgbClr val="C6FF4D"/>
            </a:solidFill>
            <a:ln w="38100" cap="sq">
              <a:solidFill>
                <a:srgbClr val="000000"/>
              </a:solidFill>
              <a:prstDash val="solid"/>
              <a:miter/>
            </a:ln>
          </p:spPr>
        </p:sp>
        <p:sp>
          <p:nvSpPr>
            <p:cNvPr name="TextBox 30" id="30"/>
            <p:cNvSpPr txBox="true"/>
            <p:nvPr/>
          </p:nvSpPr>
          <p:spPr>
            <a:xfrm>
              <a:off x="303969" y="97760"/>
              <a:ext cx="2634399" cy="1491781"/>
            </a:xfrm>
            <a:prstGeom prst="rect">
              <a:avLst/>
            </a:prstGeom>
          </p:spPr>
          <p:txBody>
            <a:bodyPr anchor="ctr" rtlCol="false" tIns="50800" lIns="50800" bIns="50800" rIns="50800"/>
            <a:lstStyle/>
            <a:p>
              <a:pPr algn="ctr">
                <a:lnSpc>
                  <a:spcPts val="4899"/>
                </a:lnSpc>
              </a:pPr>
              <a:r>
                <a:rPr lang="en-US" b="true" sz="3499">
                  <a:solidFill>
                    <a:srgbClr val="000000"/>
                  </a:solidFill>
                  <a:latin typeface="Neue Machina Ultra-Bold"/>
                  <a:ea typeface="Neue Machina Ultra-Bold"/>
                  <a:cs typeface="Neue Machina Ultra-Bold"/>
                  <a:sym typeface="Neue Machina Ultra-Bold"/>
                </a:rPr>
                <a:t>Metode Klasifikasi Data </a:t>
              </a:r>
            </a:p>
          </p:txBody>
        </p:sp>
      </p:grpSp>
      <p:sp>
        <p:nvSpPr>
          <p:cNvPr name="TextBox 31" id="31"/>
          <p:cNvSpPr txBox="true"/>
          <p:nvPr/>
        </p:nvSpPr>
        <p:spPr>
          <a:xfrm rot="0">
            <a:off x="13715471" y="5895324"/>
            <a:ext cx="4380613" cy="3724231"/>
          </a:xfrm>
          <a:prstGeom prst="rect">
            <a:avLst/>
          </a:prstGeom>
        </p:spPr>
        <p:txBody>
          <a:bodyPr anchor="t" rtlCol="false" tIns="0" lIns="0" bIns="0" rIns="0">
            <a:spAutoFit/>
          </a:bodyPr>
          <a:lstStyle/>
          <a:p>
            <a:pPr algn="just">
              <a:lnSpc>
                <a:spcPts val="3677"/>
              </a:lnSpc>
            </a:pPr>
            <a:r>
              <a:rPr lang="en-US" sz="2626">
                <a:solidFill>
                  <a:srgbClr val="000000"/>
                </a:solidFill>
                <a:latin typeface="Raleway"/>
                <a:ea typeface="Raleway"/>
                <a:cs typeface="Raleway"/>
                <a:sym typeface="Raleway"/>
              </a:rPr>
              <a:t>Metode klasifikasi data digunakan dengan membagi data menjadi data latih dan uji serta mengubah teks menjadi fitur numerik menggunakan CountVectorizer sebagai tahap awal pemodelan.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7140492" y="0"/>
            <a:ext cx="955592" cy="955592"/>
          </a:xfrm>
          <a:custGeom>
            <a:avLst/>
            <a:gdLst/>
            <a:ahLst/>
            <a:cxnLst/>
            <a:rect r="r" b="b" t="t" l="l"/>
            <a:pathLst>
              <a:path h="955592" w="955592">
                <a:moveTo>
                  <a:pt x="0" y="0"/>
                </a:moveTo>
                <a:lnTo>
                  <a:pt x="955592" y="0"/>
                </a:lnTo>
                <a:lnTo>
                  <a:pt x="955592" y="955592"/>
                </a:lnTo>
                <a:lnTo>
                  <a:pt x="0" y="955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515291" y="5928591"/>
            <a:ext cx="17102996" cy="3559082"/>
            <a:chOff x="0" y="0"/>
            <a:chExt cx="4376778" cy="910794"/>
          </a:xfrm>
        </p:grpSpPr>
        <p:sp>
          <p:nvSpPr>
            <p:cNvPr name="Freeform 4" id="4"/>
            <p:cNvSpPr/>
            <p:nvPr/>
          </p:nvSpPr>
          <p:spPr>
            <a:xfrm flipH="false" flipV="false" rot="0">
              <a:off x="0" y="0"/>
              <a:ext cx="4376779" cy="910794"/>
            </a:xfrm>
            <a:custGeom>
              <a:avLst/>
              <a:gdLst/>
              <a:ahLst/>
              <a:cxnLst/>
              <a:rect r="r" b="b" t="t" l="l"/>
              <a:pathLst>
                <a:path h="910794" w="4376779">
                  <a:moveTo>
                    <a:pt x="25349" y="0"/>
                  </a:moveTo>
                  <a:lnTo>
                    <a:pt x="4351429" y="0"/>
                  </a:lnTo>
                  <a:cubicBezTo>
                    <a:pt x="4365429" y="0"/>
                    <a:pt x="4376779" y="11349"/>
                    <a:pt x="4376779" y="25349"/>
                  </a:cubicBezTo>
                  <a:lnTo>
                    <a:pt x="4376779" y="885445"/>
                  </a:lnTo>
                  <a:cubicBezTo>
                    <a:pt x="4376779" y="892168"/>
                    <a:pt x="4374108" y="898616"/>
                    <a:pt x="4369354" y="903370"/>
                  </a:cubicBezTo>
                  <a:cubicBezTo>
                    <a:pt x="4364600" y="908124"/>
                    <a:pt x="4358153" y="910794"/>
                    <a:pt x="4351429" y="910794"/>
                  </a:cubicBezTo>
                  <a:lnTo>
                    <a:pt x="25349" y="910794"/>
                  </a:lnTo>
                  <a:cubicBezTo>
                    <a:pt x="11349" y="910794"/>
                    <a:pt x="0" y="899445"/>
                    <a:pt x="0" y="885445"/>
                  </a:cubicBezTo>
                  <a:lnTo>
                    <a:pt x="0" y="25349"/>
                  </a:lnTo>
                  <a:cubicBezTo>
                    <a:pt x="0" y="11349"/>
                    <a:pt x="11349" y="0"/>
                    <a:pt x="25349" y="0"/>
                  </a:cubicBezTo>
                  <a:close/>
                </a:path>
              </a:pathLst>
            </a:custGeom>
            <a:solidFill>
              <a:srgbClr val="FAFAFA"/>
            </a:solidFill>
            <a:ln w="38100" cap="rnd">
              <a:solidFill>
                <a:srgbClr val="000000"/>
              </a:solidFill>
              <a:prstDash val="solid"/>
              <a:round/>
            </a:ln>
          </p:spPr>
        </p:sp>
        <p:sp>
          <p:nvSpPr>
            <p:cNvPr name="TextBox 5" id="5"/>
            <p:cNvSpPr txBox="true"/>
            <p:nvPr/>
          </p:nvSpPr>
          <p:spPr>
            <a:xfrm>
              <a:off x="0" y="-47625"/>
              <a:ext cx="4376778" cy="958419"/>
            </a:xfrm>
            <a:prstGeom prst="rect">
              <a:avLst/>
            </a:prstGeom>
          </p:spPr>
          <p:txBody>
            <a:bodyPr anchor="ctr" rtlCol="false" tIns="50800" lIns="50800" bIns="50800" rIns="50800"/>
            <a:lstStyle/>
            <a:p>
              <a:pPr algn="ctr">
                <a:lnSpc>
                  <a:spcPts val="3079"/>
                </a:lnSpc>
              </a:pPr>
            </a:p>
          </p:txBody>
        </p:sp>
      </p:grpSp>
      <p:grpSp>
        <p:nvGrpSpPr>
          <p:cNvPr name="Group 6" id="6"/>
          <p:cNvGrpSpPr/>
          <p:nvPr/>
        </p:nvGrpSpPr>
        <p:grpSpPr>
          <a:xfrm rot="0">
            <a:off x="435939" y="2104613"/>
            <a:ext cx="17102996" cy="3559082"/>
            <a:chOff x="0" y="0"/>
            <a:chExt cx="4376778" cy="910794"/>
          </a:xfrm>
        </p:grpSpPr>
        <p:sp>
          <p:nvSpPr>
            <p:cNvPr name="Freeform 7" id="7"/>
            <p:cNvSpPr/>
            <p:nvPr/>
          </p:nvSpPr>
          <p:spPr>
            <a:xfrm flipH="false" flipV="false" rot="0">
              <a:off x="0" y="0"/>
              <a:ext cx="4376779" cy="910794"/>
            </a:xfrm>
            <a:custGeom>
              <a:avLst/>
              <a:gdLst/>
              <a:ahLst/>
              <a:cxnLst/>
              <a:rect r="r" b="b" t="t" l="l"/>
              <a:pathLst>
                <a:path h="910794" w="4376779">
                  <a:moveTo>
                    <a:pt x="25349" y="0"/>
                  </a:moveTo>
                  <a:lnTo>
                    <a:pt x="4351429" y="0"/>
                  </a:lnTo>
                  <a:cubicBezTo>
                    <a:pt x="4365429" y="0"/>
                    <a:pt x="4376779" y="11349"/>
                    <a:pt x="4376779" y="25349"/>
                  </a:cubicBezTo>
                  <a:lnTo>
                    <a:pt x="4376779" y="885445"/>
                  </a:lnTo>
                  <a:cubicBezTo>
                    <a:pt x="4376779" y="892168"/>
                    <a:pt x="4374108" y="898616"/>
                    <a:pt x="4369354" y="903370"/>
                  </a:cubicBezTo>
                  <a:cubicBezTo>
                    <a:pt x="4364600" y="908124"/>
                    <a:pt x="4358153" y="910794"/>
                    <a:pt x="4351429" y="910794"/>
                  </a:cubicBezTo>
                  <a:lnTo>
                    <a:pt x="25349" y="910794"/>
                  </a:lnTo>
                  <a:cubicBezTo>
                    <a:pt x="11349" y="910794"/>
                    <a:pt x="0" y="899445"/>
                    <a:pt x="0" y="885445"/>
                  </a:cubicBezTo>
                  <a:lnTo>
                    <a:pt x="0" y="25349"/>
                  </a:lnTo>
                  <a:cubicBezTo>
                    <a:pt x="0" y="11349"/>
                    <a:pt x="11349" y="0"/>
                    <a:pt x="25349" y="0"/>
                  </a:cubicBezTo>
                  <a:close/>
                </a:path>
              </a:pathLst>
            </a:custGeom>
            <a:solidFill>
              <a:srgbClr val="FAFAFA"/>
            </a:solidFill>
            <a:ln w="38100" cap="rnd">
              <a:solidFill>
                <a:srgbClr val="000000"/>
              </a:solidFill>
              <a:prstDash val="solid"/>
              <a:round/>
            </a:ln>
          </p:spPr>
        </p:sp>
        <p:sp>
          <p:nvSpPr>
            <p:cNvPr name="TextBox 8" id="8"/>
            <p:cNvSpPr txBox="true"/>
            <p:nvPr/>
          </p:nvSpPr>
          <p:spPr>
            <a:xfrm>
              <a:off x="0" y="-47625"/>
              <a:ext cx="4376778" cy="958419"/>
            </a:xfrm>
            <a:prstGeom prst="rect">
              <a:avLst/>
            </a:prstGeom>
          </p:spPr>
          <p:txBody>
            <a:bodyPr anchor="ctr" rtlCol="false" tIns="50800" lIns="50800" bIns="50800" rIns="50800"/>
            <a:lstStyle/>
            <a:p>
              <a:pPr algn="ctr">
                <a:lnSpc>
                  <a:spcPts val="3079"/>
                </a:lnSpc>
              </a:pPr>
            </a:p>
          </p:txBody>
        </p:sp>
      </p:grpSp>
      <p:grpSp>
        <p:nvGrpSpPr>
          <p:cNvPr name="Group 9" id="9"/>
          <p:cNvGrpSpPr/>
          <p:nvPr/>
        </p:nvGrpSpPr>
        <p:grpSpPr>
          <a:xfrm rot="0">
            <a:off x="280901" y="1313280"/>
            <a:ext cx="4405276" cy="1951156"/>
            <a:chOff x="0" y="0"/>
            <a:chExt cx="2987609" cy="1323252"/>
          </a:xfrm>
        </p:grpSpPr>
        <p:sp>
          <p:nvSpPr>
            <p:cNvPr name="Freeform 10" id="10"/>
            <p:cNvSpPr/>
            <p:nvPr/>
          </p:nvSpPr>
          <p:spPr>
            <a:xfrm flipH="false" flipV="false" rot="0">
              <a:off x="0" y="0"/>
              <a:ext cx="2987609" cy="1323252"/>
            </a:xfrm>
            <a:custGeom>
              <a:avLst/>
              <a:gdLst/>
              <a:ahLst/>
              <a:cxnLst/>
              <a:rect r="r" b="b" t="t" l="l"/>
              <a:pathLst>
                <a:path h="1323252" w="2987609">
                  <a:moveTo>
                    <a:pt x="1493804" y="0"/>
                  </a:moveTo>
                  <a:cubicBezTo>
                    <a:pt x="668799" y="0"/>
                    <a:pt x="0" y="296220"/>
                    <a:pt x="0" y="661626"/>
                  </a:cubicBezTo>
                  <a:cubicBezTo>
                    <a:pt x="0" y="1027032"/>
                    <a:pt x="668799" y="1323252"/>
                    <a:pt x="1493804" y="1323252"/>
                  </a:cubicBezTo>
                  <a:cubicBezTo>
                    <a:pt x="2318810" y="1323252"/>
                    <a:pt x="2987609" y="1027032"/>
                    <a:pt x="2987609" y="661626"/>
                  </a:cubicBezTo>
                  <a:cubicBezTo>
                    <a:pt x="2987609" y="296220"/>
                    <a:pt x="2318810" y="0"/>
                    <a:pt x="1493804" y="0"/>
                  </a:cubicBezTo>
                  <a:close/>
                </a:path>
              </a:pathLst>
            </a:custGeom>
            <a:solidFill>
              <a:srgbClr val="C6FF4D"/>
            </a:solidFill>
            <a:ln w="38100" cap="sq">
              <a:solidFill>
                <a:srgbClr val="000000"/>
              </a:solidFill>
              <a:prstDash val="solid"/>
              <a:miter/>
            </a:ln>
          </p:spPr>
        </p:sp>
        <p:sp>
          <p:nvSpPr>
            <p:cNvPr name="TextBox 11" id="11"/>
            <p:cNvSpPr txBox="true"/>
            <p:nvPr/>
          </p:nvSpPr>
          <p:spPr>
            <a:xfrm>
              <a:off x="280088" y="28805"/>
              <a:ext cx="2427432" cy="1170393"/>
            </a:xfrm>
            <a:prstGeom prst="rect">
              <a:avLst/>
            </a:prstGeom>
          </p:spPr>
          <p:txBody>
            <a:bodyPr anchor="ctr" rtlCol="false" tIns="50800" lIns="50800" bIns="50800" rIns="50800"/>
            <a:lstStyle/>
            <a:p>
              <a:pPr algn="ctr">
                <a:lnSpc>
                  <a:spcPts val="5319"/>
                </a:lnSpc>
              </a:pPr>
              <a:r>
                <a:rPr lang="en-US" b="true" sz="3799">
                  <a:solidFill>
                    <a:srgbClr val="000000"/>
                  </a:solidFill>
                  <a:latin typeface="Neue Machina Ultra-Bold"/>
                  <a:ea typeface="Neue Machina Ultra-Bold"/>
                  <a:cs typeface="Neue Machina Ultra-Bold"/>
                  <a:sym typeface="Neue Machina Ultra-Bold"/>
                </a:rPr>
                <a:t>Dataset CNN Indonesia</a:t>
              </a:r>
            </a:p>
          </p:txBody>
        </p:sp>
      </p:grpSp>
      <p:grpSp>
        <p:nvGrpSpPr>
          <p:cNvPr name="Group 12" id="12"/>
          <p:cNvGrpSpPr/>
          <p:nvPr/>
        </p:nvGrpSpPr>
        <p:grpSpPr>
          <a:xfrm rot="0">
            <a:off x="280901" y="5226673"/>
            <a:ext cx="3650243" cy="1951156"/>
            <a:chOff x="0" y="0"/>
            <a:chExt cx="2475554" cy="1323252"/>
          </a:xfrm>
        </p:grpSpPr>
        <p:sp>
          <p:nvSpPr>
            <p:cNvPr name="Freeform 13" id="13"/>
            <p:cNvSpPr/>
            <p:nvPr/>
          </p:nvSpPr>
          <p:spPr>
            <a:xfrm flipH="false" flipV="false" rot="0">
              <a:off x="0" y="0"/>
              <a:ext cx="2475555" cy="1323252"/>
            </a:xfrm>
            <a:custGeom>
              <a:avLst/>
              <a:gdLst/>
              <a:ahLst/>
              <a:cxnLst/>
              <a:rect r="r" b="b" t="t" l="l"/>
              <a:pathLst>
                <a:path h="1323252" w="2475555">
                  <a:moveTo>
                    <a:pt x="1237777" y="0"/>
                  </a:moveTo>
                  <a:cubicBezTo>
                    <a:pt x="554172" y="0"/>
                    <a:pt x="0" y="296220"/>
                    <a:pt x="0" y="661626"/>
                  </a:cubicBezTo>
                  <a:cubicBezTo>
                    <a:pt x="0" y="1027032"/>
                    <a:pt x="554172" y="1323252"/>
                    <a:pt x="1237777" y="1323252"/>
                  </a:cubicBezTo>
                  <a:cubicBezTo>
                    <a:pt x="1921383" y="1323252"/>
                    <a:pt x="2475555" y="1027032"/>
                    <a:pt x="2475555" y="661626"/>
                  </a:cubicBezTo>
                  <a:cubicBezTo>
                    <a:pt x="2475555" y="296220"/>
                    <a:pt x="1921383" y="0"/>
                    <a:pt x="1237777" y="0"/>
                  </a:cubicBezTo>
                  <a:close/>
                </a:path>
              </a:pathLst>
            </a:custGeom>
            <a:solidFill>
              <a:srgbClr val="C6FF4D"/>
            </a:solidFill>
            <a:ln w="38100" cap="sq">
              <a:solidFill>
                <a:srgbClr val="000000"/>
              </a:solidFill>
              <a:prstDash val="solid"/>
              <a:miter/>
            </a:ln>
          </p:spPr>
        </p:sp>
        <p:sp>
          <p:nvSpPr>
            <p:cNvPr name="TextBox 14" id="14"/>
            <p:cNvSpPr txBox="true"/>
            <p:nvPr/>
          </p:nvSpPr>
          <p:spPr>
            <a:xfrm>
              <a:off x="232083" y="28805"/>
              <a:ext cx="2011388" cy="1170393"/>
            </a:xfrm>
            <a:prstGeom prst="rect">
              <a:avLst/>
            </a:prstGeom>
          </p:spPr>
          <p:txBody>
            <a:bodyPr anchor="ctr" rtlCol="false" tIns="50800" lIns="50800" bIns="50800" rIns="50800"/>
            <a:lstStyle/>
            <a:p>
              <a:pPr algn="ctr">
                <a:lnSpc>
                  <a:spcPts val="5319"/>
                </a:lnSpc>
              </a:pPr>
              <a:r>
                <a:rPr lang="en-US" b="true" sz="3799">
                  <a:solidFill>
                    <a:srgbClr val="000000"/>
                  </a:solidFill>
                  <a:latin typeface="Neue Machina Ultra-Bold"/>
                  <a:ea typeface="Neue Machina Ultra-Bold"/>
                  <a:cs typeface="Neue Machina Ultra-Bold"/>
                  <a:sym typeface="Neue Machina Ultra-Bold"/>
                </a:rPr>
                <a:t>Dataset Detikcom</a:t>
              </a:r>
            </a:p>
          </p:txBody>
        </p:sp>
      </p:grpSp>
      <p:sp>
        <p:nvSpPr>
          <p:cNvPr name="Freeform 15" id="15"/>
          <p:cNvSpPr/>
          <p:nvPr/>
        </p:nvSpPr>
        <p:spPr>
          <a:xfrm flipH="false" flipV="false" rot="0">
            <a:off x="8374370" y="2668661"/>
            <a:ext cx="8884930" cy="2430986"/>
          </a:xfrm>
          <a:custGeom>
            <a:avLst/>
            <a:gdLst/>
            <a:ahLst/>
            <a:cxnLst/>
            <a:rect r="r" b="b" t="t" l="l"/>
            <a:pathLst>
              <a:path h="2430986" w="8884930">
                <a:moveTo>
                  <a:pt x="0" y="0"/>
                </a:moveTo>
                <a:lnTo>
                  <a:pt x="8884930" y="0"/>
                </a:lnTo>
                <a:lnTo>
                  <a:pt x="8884930" y="2430986"/>
                </a:lnTo>
                <a:lnTo>
                  <a:pt x="0" y="2430986"/>
                </a:lnTo>
                <a:lnTo>
                  <a:pt x="0" y="0"/>
                </a:lnTo>
                <a:close/>
              </a:path>
            </a:pathLst>
          </a:custGeom>
          <a:blipFill>
            <a:blip r:embed="rId4"/>
            <a:stretch>
              <a:fillRect l="0" t="0" r="0" b="0"/>
            </a:stretch>
          </a:blipFill>
        </p:spPr>
      </p:sp>
      <p:sp>
        <p:nvSpPr>
          <p:cNvPr name="Freeform 16" id="16"/>
          <p:cNvSpPr/>
          <p:nvPr/>
        </p:nvSpPr>
        <p:spPr>
          <a:xfrm flipH="false" flipV="false" rot="0">
            <a:off x="8374370" y="6188602"/>
            <a:ext cx="8884930" cy="2933097"/>
          </a:xfrm>
          <a:custGeom>
            <a:avLst/>
            <a:gdLst/>
            <a:ahLst/>
            <a:cxnLst/>
            <a:rect r="r" b="b" t="t" l="l"/>
            <a:pathLst>
              <a:path h="2933097" w="8884930">
                <a:moveTo>
                  <a:pt x="0" y="0"/>
                </a:moveTo>
                <a:lnTo>
                  <a:pt x="8884930" y="0"/>
                </a:lnTo>
                <a:lnTo>
                  <a:pt x="8884930" y="2933097"/>
                </a:lnTo>
                <a:lnTo>
                  <a:pt x="0" y="2933097"/>
                </a:lnTo>
                <a:lnTo>
                  <a:pt x="0" y="0"/>
                </a:lnTo>
                <a:close/>
              </a:path>
            </a:pathLst>
          </a:custGeom>
          <a:blipFill>
            <a:blip r:embed="rId5"/>
            <a:stretch>
              <a:fillRect l="0" t="0" r="0" b="0"/>
            </a:stretch>
          </a:blipFill>
        </p:spPr>
      </p:sp>
      <p:sp>
        <p:nvSpPr>
          <p:cNvPr name="TextBox 17" id="17"/>
          <p:cNvSpPr txBox="true"/>
          <p:nvPr/>
        </p:nvSpPr>
        <p:spPr>
          <a:xfrm rot="0">
            <a:off x="4990242" y="2222183"/>
            <a:ext cx="4380613" cy="3078437"/>
          </a:xfrm>
          <a:prstGeom prst="rect">
            <a:avLst/>
          </a:prstGeom>
        </p:spPr>
        <p:txBody>
          <a:bodyPr anchor="t" rtlCol="false" tIns="0" lIns="0" bIns="0" rIns="0">
            <a:spAutoFit/>
          </a:bodyPr>
          <a:lstStyle/>
          <a:p>
            <a:pPr algn="just">
              <a:lnSpc>
                <a:spcPts val="4097"/>
              </a:lnSpc>
            </a:pPr>
            <a:r>
              <a:rPr lang="en-US" sz="2926">
                <a:solidFill>
                  <a:srgbClr val="000000"/>
                </a:solidFill>
                <a:latin typeface="Raleway"/>
                <a:ea typeface="Raleway"/>
                <a:cs typeface="Raleway"/>
                <a:sym typeface="Raleway"/>
              </a:rPr>
              <a:t>5 variabel</a:t>
            </a:r>
          </a:p>
          <a:p>
            <a:pPr algn="l" marL="631877" indent="-315938" lvl="1">
              <a:lnSpc>
                <a:spcPts val="4097"/>
              </a:lnSpc>
              <a:buFont typeface="Arial"/>
              <a:buChar char="•"/>
            </a:pPr>
            <a:r>
              <a:rPr lang="en-US" sz="2926">
                <a:solidFill>
                  <a:srgbClr val="000000"/>
                </a:solidFill>
                <a:latin typeface="Raleway"/>
                <a:ea typeface="Raleway"/>
                <a:cs typeface="Raleway"/>
                <a:sym typeface="Raleway"/>
              </a:rPr>
              <a:t>Review ID</a:t>
            </a:r>
          </a:p>
          <a:p>
            <a:pPr algn="l" marL="631877" indent="-315938" lvl="1">
              <a:lnSpc>
                <a:spcPts val="4097"/>
              </a:lnSpc>
              <a:buFont typeface="Arial"/>
              <a:buChar char="•"/>
            </a:pPr>
            <a:r>
              <a:rPr lang="en-US" sz="2926">
                <a:solidFill>
                  <a:srgbClr val="000000"/>
                </a:solidFill>
                <a:latin typeface="Raleway"/>
                <a:ea typeface="Raleway"/>
                <a:cs typeface="Raleway"/>
                <a:sym typeface="Raleway"/>
              </a:rPr>
              <a:t>Username</a:t>
            </a:r>
          </a:p>
          <a:p>
            <a:pPr algn="l" marL="631877" indent="-315938" lvl="1">
              <a:lnSpc>
                <a:spcPts val="4097"/>
              </a:lnSpc>
              <a:buFont typeface="Arial"/>
              <a:buChar char="•"/>
            </a:pPr>
            <a:r>
              <a:rPr lang="en-US" sz="2926">
                <a:solidFill>
                  <a:srgbClr val="000000"/>
                </a:solidFill>
                <a:latin typeface="Raleway"/>
                <a:ea typeface="Raleway"/>
                <a:cs typeface="Raleway"/>
                <a:sym typeface="Raleway"/>
              </a:rPr>
              <a:t>Rating</a:t>
            </a:r>
          </a:p>
          <a:p>
            <a:pPr algn="l" marL="631877" indent="-315938" lvl="1">
              <a:lnSpc>
                <a:spcPts val="4097"/>
              </a:lnSpc>
              <a:buFont typeface="Arial"/>
              <a:buChar char="•"/>
            </a:pPr>
            <a:r>
              <a:rPr lang="en-US" sz="2926">
                <a:solidFill>
                  <a:srgbClr val="000000"/>
                </a:solidFill>
                <a:latin typeface="Raleway"/>
                <a:ea typeface="Raleway"/>
                <a:cs typeface="Raleway"/>
                <a:sym typeface="Raleway"/>
              </a:rPr>
              <a:t>Review Text</a:t>
            </a:r>
          </a:p>
          <a:p>
            <a:pPr algn="l" marL="631877" indent="-315938" lvl="1">
              <a:lnSpc>
                <a:spcPts val="4097"/>
              </a:lnSpc>
              <a:buFont typeface="Arial"/>
              <a:buChar char="•"/>
            </a:pPr>
            <a:r>
              <a:rPr lang="en-US" sz="2926">
                <a:solidFill>
                  <a:srgbClr val="000000"/>
                </a:solidFill>
                <a:latin typeface="Raleway"/>
                <a:ea typeface="Raleway"/>
                <a:cs typeface="Raleway"/>
                <a:sym typeface="Raleway"/>
              </a:rPr>
              <a:t>Date</a:t>
            </a:r>
          </a:p>
        </p:txBody>
      </p:sp>
      <p:sp>
        <p:nvSpPr>
          <p:cNvPr name="TextBox 18" id="18"/>
          <p:cNvSpPr txBox="true"/>
          <p:nvPr/>
        </p:nvSpPr>
        <p:spPr>
          <a:xfrm rot="0">
            <a:off x="802208" y="3763929"/>
            <a:ext cx="4995113" cy="906101"/>
          </a:xfrm>
          <a:prstGeom prst="rect">
            <a:avLst/>
          </a:prstGeom>
        </p:spPr>
        <p:txBody>
          <a:bodyPr anchor="t" rtlCol="false" tIns="0" lIns="0" bIns="0" rIns="0">
            <a:spAutoFit/>
          </a:bodyPr>
          <a:lstStyle/>
          <a:p>
            <a:pPr algn="just">
              <a:lnSpc>
                <a:spcPts val="3677"/>
              </a:lnSpc>
            </a:pPr>
            <a:r>
              <a:rPr lang="en-US" sz="2626" b="true">
                <a:solidFill>
                  <a:srgbClr val="000000"/>
                </a:solidFill>
                <a:latin typeface="Raleway Bold"/>
                <a:ea typeface="Raleway Bold"/>
                <a:cs typeface="Raleway Bold"/>
                <a:sym typeface="Raleway Bold"/>
              </a:rPr>
              <a:t>10.000 </a:t>
            </a:r>
            <a:r>
              <a:rPr lang="en-US" sz="2626">
                <a:solidFill>
                  <a:srgbClr val="000000"/>
                </a:solidFill>
                <a:latin typeface="Raleway"/>
                <a:ea typeface="Raleway"/>
                <a:cs typeface="Raleway"/>
                <a:sym typeface="Raleway"/>
              </a:rPr>
              <a:t>data entri</a:t>
            </a:r>
          </a:p>
          <a:p>
            <a:pPr algn="just">
              <a:lnSpc>
                <a:spcPts val="3537"/>
              </a:lnSpc>
            </a:pPr>
            <a:r>
              <a:rPr lang="en-US" b="true" sz="2526">
                <a:solidFill>
                  <a:srgbClr val="000000"/>
                </a:solidFill>
                <a:latin typeface="Raleway Bold"/>
                <a:ea typeface="Raleway Bold"/>
                <a:cs typeface="Raleway Bold"/>
                <a:sym typeface="Raleway Bold"/>
              </a:rPr>
              <a:t>2020/12/07 - 2026/04/13</a:t>
            </a:r>
          </a:p>
        </p:txBody>
      </p:sp>
      <p:sp>
        <p:nvSpPr>
          <p:cNvPr name="TextBox 19" id="19"/>
          <p:cNvSpPr txBox="true"/>
          <p:nvPr/>
        </p:nvSpPr>
        <p:spPr>
          <a:xfrm rot="0">
            <a:off x="515291" y="287296"/>
            <a:ext cx="10211678" cy="848699"/>
          </a:xfrm>
          <a:prstGeom prst="rect">
            <a:avLst/>
          </a:prstGeom>
        </p:spPr>
        <p:txBody>
          <a:bodyPr anchor="t" rtlCol="false" tIns="0" lIns="0" bIns="0" rIns="0">
            <a:spAutoFit/>
          </a:bodyPr>
          <a:lstStyle/>
          <a:p>
            <a:pPr algn="l">
              <a:lnSpc>
                <a:spcPts val="6473"/>
              </a:lnSpc>
            </a:pPr>
            <a:r>
              <a:rPr lang="en-US" b="true" sz="6107">
                <a:solidFill>
                  <a:srgbClr val="000000"/>
                </a:solidFill>
                <a:latin typeface="Neue Machina Ultra-Bold"/>
                <a:ea typeface="Neue Machina Ultra-Bold"/>
                <a:cs typeface="Neue Machina Ultra-Bold"/>
                <a:sym typeface="Neue Machina Ultra-Bold"/>
              </a:rPr>
              <a:t>DATA</a:t>
            </a:r>
          </a:p>
        </p:txBody>
      </p:sp>
      <p:sp>
        <p:nvSpPr>
          <p:cNvPr name="TextBox 20" id="20"/>
          <p:cNvSpPr txBox="true"/>
          <p:nvPr/>
        </p:nvSpPr>
        <p:spPr>
          <a:xfrm rot="0">
            <a:off x="5189579" y="6135576"/>
            <a:ext cx="4380613" cy="3078437"/>
          </a:xfrm>
          <a:prstGeom prst="rect">
            <a:avLst/>
          </a:prstGeom>
        </p:spPr>
        <p:txBody>
          <a:bodyPr anchor="t" rtlCol="false" tIns="0" lIns="0" bIns="0" rIns="0">
            <a:spAutoFit/>
          </a:bodyPr>
          <a:lstStyle/>
          <a:p>
            <a:pPr algn="just">
              <a:lnSpc>
                <a:spcPts val="4097"/>
              </a:lnSpc>
            </a:pPr>
            <a:r>
              <a:rPr lang="en-US" sz="2926">
                <a:solidFill>
                  <a:srgbClr val="000000"/>
                </a:solidFill>
                <a:latin typeface="Raleway"/>
                <a:ea typeface="Raleway"/>
                <a:cs typeface="Raleway"/>
                <a:sym typeface="Raleway"/>
              </a:rPr>
              <a:t>5 variabel</a:t>
            </a:r>
          </a:p>
          <a:p>
            <a:pPr algn="l" marL="631877" indent="-315938" lvl="1">
              <a:lnSpc>
                <a:spcPts val="4097"/>
              </a:lnSpc>
              <a:buFont typeface="Arial"/>
              <a:buChar char="•"/>
            </a:pPr>
            <a:r>
              <a:rPr lang="en-US" sz="2926">
                <a:solidFill>
                  <a:srgbClr val="000000"/>
                </a:solidFill>
                <a:latin typeface="Raleway"/>
                <a:ea typeface="Raleway"/>
                <a:cs typeface="Raleway"/>
                <a:sym typeface="Raleway"/>
              </a:rPr>
              <a:t>Review ID</a:t>
            </a:r>
          </a:p>
          <a:p>
            <a:pPr algn="l" marL="631877" indent="-315938" lvl="1">
              <a:lnSpc>
                <a:spcPts val="4097"/>
              </a:lnSpc>
              <a:buFont typeface="Arial"/>
              <a:buChar char="•"/>
            </a:pPr>
            <a:r>
              <a:rPr lang="en-US" sz="2926">
                <a:solidFill>
                  <a:srgbClr val="000000"/>
                </a:solidFill>
                <a:latin typeface="Raleway"/>
                <a:ea typeface="Raleway"/>
                <a:cs typeface="Raleway"/>
                <a:sym typeface="Raleway"/>
              </a:rPr>
              <a:t>Username</a:t>
            </a:r>
          </a:p>
          <a:p>
            <a:pPr algn="l" marL="631877" indent="-315938" lvl="1">
              <a:lnSpc>
                <a:spcPts val="4097"/>
              </a:lnSpc>
              <a:buFont typeface="Arial"/>
              <a:buChar char="•"/>
            </a:pPr>
            <a:r>
              <a:rPr lang="en-US" sz="2926">
                <a:solidFill>
                  <a:srgbClr val="000000"/>
                </a:solidFill>
                <a:latin typeface="Raleway"/>
                <a:ea typeface="Raleway"/>
                <a:cs typeface="Raleway"/>
                <a:sym typeface="Raleway"/>
              </a:rPr>
              <a:t>Rating</a:t>
            </a:r>
          </a:p>
          <a:p>
            <a:pPr algn="l" marL="631877" indent="-315938" lvl="1">
              <a:lnSpc>
                <a:spcPts val="4097"/>
              </a:lnSpc>
              <a:buFont typeface="Arial"/>
              <a:buChar char="•"/>
            </a:pPr>
            <a:r>
              <a:rPr lang="en-US" sz="2926">
                <a:solidFill>
                  <a:srgbClr val="000000"/>
                </a:solidFill>
                <a:latin typeface="Raleway"/>
                <a:ea typeface="Raleway"/>
                <a:cs typeface="Raleway"/>
                <a:sym typeface="Raleway"/>
              </a:rPr>
              <a:t>Review Text</a:t>
            </a:r>
          </a:p>
          <a:p>
            <a:pPr algn="l" marL="631877" indent="-315938" lvl="1">
              <a:lnSpc>
                <a:spcPts val="4097"/>
              </a:lnSpc>
              <a:buFont typeface="Arial"/>
              <a:buChar char="•"/>
            </a:pPr>
            <a:r>
              <a:rPr lang="en-US" sz="2926">
                <a:solidFill>
                  <a:srgbClr val="000000"/>
                </a:solidFill>
                <a:latin typeface="Raleway"/>
                <a:ea typeface="Raleway"/>
                <a:cs typeface="Raleway"/>
                <a:sym typeface="Raleway"/>
              </a:rPr>
              <a:t>Date</a:t>
            </a:r>
          </a:p>
        </p:txBody>
      </p:sp>
      <p:sp>
        <p:nvSpPr>
          <p:cNvPr name="TextBox 21" id="21"/>
          <p:cNvSpPr txBox="true"/>
          <p:nvPr/>
        </p:nvSpPr>
        <p:spPr>
          <a:xfrm rot="0">
            <a:off x="802208" y="7598000"/>
            <a:ext cx="4995113" cy="906101"/>
          </a:xfrm>
          <a:prstGeom prst="rect">
            <a:avLst/>
          </a:prstGeom>
        </p:spPr>
        <p:txBody>
          <a:bodyPr anchor="t" rtlCol="false" tIns="0" lIns="0" bIns="0" rIns="0">
            <a:spAutoFit/>
          </a:bodyPr>
          <a:lstStyle/>
          <a:p>
            <a:pPr algn="just">
              <a:lnSpc>
                <a:spcPts val="3677"/>
              </a:lnSpc>
            </a:pPr>
            <a:r>
              <a:rPr lang="en-US" sz="2626" b="true">
                <a:solidFill>
                  <a:srgbClr val="000000"/>
                </a:solidFill>
                <a:latin typeface="Raleway Bold"/>
                <a:ea typeface="Raleway Bold"/>
                <a:cs typeface="Raleway Bold"/>
                <a:sym typeface="Raleway Bold"/>
              </a:rPr>
              <a:t>10.000 </a:t>
            </a:r>
            <a:r>
              <a:rPr lang="en-US" sz="2626">
                <a:solidFill>
                  <a:srgbClr val="000000"/>
                </a:solidFill>
                <a:latin typeface="Raleway"/>
                <a:ea typeface="Raleway"/>
                <a:cs typeface="Raleway"/>
                <a:sym typeface="Raleway"/>
              </a:rPr>
              <a:t>data entri</a:t>
            </a:r>
          </a:p>
          <a:p>
            <a:pPr algn="just">
              <a:lnSpc>
                <a:spcPts val="3537"/>
              </a:lnSpc>
            </a:pPr>
            <a:r>
              <a:rPr lang="en-US" b="true" sz="2526">
                <a:solidFill>
                  <a:srgbClr val="000000"/>
                </a:solidFill>
                <a:latin typeface="Raleway Bold"/>
                <a:ea typeface="Raleway Bold"/>
                <a:cs typeface="Raleway Bold"/>
                <a:sym typeface="Raleway Bold"/>
              </a:rPr>
              <a:t>2020/12/07 - 2026/04/14</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340230" y="606340"/>
            <a:ext cx="17521583" cy="9446182"/>
            <a:chOff x="0" y="0"/>
            <a:chExt cx="4939629" cy="2663037"/>
          </a:xfrm>
        </p:grpSpPr>
        <p:sp>
          <p:nvSpPr>
            <p:cNvPr name="Freeform 3" id="3"/>
            <p:cNvSpPr/>
            <p:nvPr/>
          </p:nvSpPr>
          <p:spPr>
            <a:xfrm flipH="false" flipV="false" rot="0">
              <a:off x="0" y="0"/>
              <a:ext cx="4939629" cy="2663037"/>
            </a:xfrm>
            <a:custGeom>
              <a:avLst/>
              <a:gdLst/>
              <a:ahLst/>
              <a:cxnLst/>
              <a:rect r="r" b="b" t="t" l="l"/>
              <a:pathLst>
                <a:path h="2663037" w="4939629">
                  <a:moveTo>
                    <a:pt x="24744" y="0"/>
                  </a:moveTo>
                  <a:lnTo>
                    <a:pt x="4914885" y="0"/>
                  </a:lnTo>
                  <a:cubicBezTo>
                    <a:pt x="4928551" y="0"/>
                    <a:pt x="4939629" y="11078"/>
                    <a:pt x="4939629" y="24744"/>
                  </a:cubicBezTo>
                  <a:lnTo>
                    <a:pt x="4939629" y="2638294"/>
                  </a:lnTo>
                  <a:cubicBezTo>
                    <a:pt x="4939629" y="2651959"/>
                    <a:pt x="4928551" y="2663037"/>
                    <a:pt x="4914885" y="2663037"/>
                  </a:cubicBezTo>
                  <a:lnTo>
                    <a:pt x="24744" y="2663037"/>
                  </a:lnTo>
                  <a:cubicBezTo>
                    <a:pt x="11078" y="2663037"/>
                    <a:pt x="0" y="2651959"/>
                    <a:pt x="0" y="2638294"/>
                  </a:cubicBezTo>
                  <a:lnTo>
                    <a:pt x="0" y="24744"/>
                  </a:lnTo>
                  <a:cubicBezTo>
                    <a:pt x="0" y="11078"/>
                    <a:pt x="11078" y="0"/>
                    <a:pt x="24744" y="0"/>
                  </a:cubicBezTo>
                  <a:close/>
                </a:path>
              </a:pathLst>
            </a:custGeom>
            <a:solidFill>
              <a:srgbClr val="FAFAFA"/>
            </a:solidFill>
            <a:ln w="38100" cap="rnd">
              <a:solidFill>
                <a:srgbClr val="000000"/>
              </a:solidFill>
              <a:prstDash val="solid"/>
              <a:round/>
            </a:ln>
          </p:spPr>
        </p:sp>
        <p:sp>
          <p:nvSpPr>
            <p:cNvPr name="TextBox 4" id="4"/>
            <p:cNvSpPr txBox="true"/>
            <p:nvPr/>
          </p:nvSpPr>
          <p:spPr>
            <a:xfrm>
              <a:off x="0" y="-47625"/>
              <a:ext cx="4939629" cy="271066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0" y="433361"/>
            <a:ext cx="3887962" cy="1190678"/>
            <a:chOff x="0" y="0"/>
            <a:chExt cx="2654063" cy="812800"/>
          </a:xfrm>
        </p:grpSpPr>
        <p:sp>
          <p:nvSpPr>
            <p:cNvPr name="Freeform 6" id="6"/>
            <p:cNvSpPr/>
            <p:nvPr/>
          </p:nvSpPr>
          <p:spPr>
            <a:xfrm flipH="false" flipV="false" rot="0">
              <a:off x="0" y="0"/>
              <a:ext cx="2654063" cy="812800"/>
            </a:xfrm>
            <a:custGeom>
              <a:avLst/>
              <a:gdLst/>
              <a:ahLst/>
              <a:cxnLst/>
              <a:rect r="r" b="b" t="t" l="l"/>
              <a:pathLst>
                <a:path h="812800" w="2654063">
                  <a:moveTo>
                    <a:pt x="1327031" y="0"/>
                  </a:moveTo>
                  <a:cubicBezTo>
                    <a:pt x="594132" y="0"/>
                    <a:pt x="0" y="181951"/>
                    <a:pt x="0" y="406400"/>
                  </a:cubicBezTo>
                  <a:cubicBezTo>
                    <a:pt x="0" y="630849"/>
                    <a:pt x="594132" y="812800"/>
                    <a:pt x="1327031" y="812800"/>
                  </a:cubicBezTo>
                  <a:cubicBezTo>
                    <a:pt x="2059930" y="812800"/>
                    <a:pt x="2654063" y="630849"/>
                    <a:pt x="2654063" y="406400"/>
                  </a:cubicBezTo>
                  <a:cubicBezTo>
                    <a:pt x="2654063" y="181951"/>
                    <a:pt x="2059930" y="0"/>
                    <a:pt x="1327031" y="0"/>
                  </a:cubicBezTo>
                  <a:close/>
                </a:path>
              </a:pathLst>
            </a:custGeom>
            <a:solidFill>
              <a:srgbClr val="C6FF4D"/>
            </a:solidFill>
            <a:ln w="38100" cap="sq">
              <a:solidFill>
                <a:srgbClr val="000000"/>
              </a:solidFill>
              <a:prstDash val="solid"/>
              <a:miter/>
            </a:ln>
          </p:spPr>
        </p:sp>
        <p:sp>
          <p:nvSpPr>
            <p:cNvPr name="TextBox 7" id="7"/>
            <p:cNvSpPr txBox="true"/>
            <p:nvPr/>
          </p:nvSpPr>
          <p:spPr>
            <a:xfrm>
              <a:off x="248818" y="9525"/>
              <a:ext cx="2156426" cy="727075"/>
            </a:xfrm>
            <a:prstGeom prst="rect">
              <a:avLst/>
            </a:prstGeom>
          </p:spPr>
          <p:txBody>
            <a:bodyPr anchor="ctr" rtlCol="false" tIns="50800" lIns="50800" bIns="50800" rIns="50800"/>
            <a:lstStyle/>
            <a:p>
              <a:pPr algn="ctr">
                <a:lnSpc>
                  <a:spcPts val="4899"/>
                </a:lnSpc>
              </a:pPr>
              <a:r>
                <a:rPr lang="en-US" b="true" sz="3499">
                  <a:solidFill>
                    <a:srgbClr val="000000"/>
                  </a:solidFill>
                  <a:latin typeface="Neue Machina Ultra-Bold"/>
                  <a:ea typeface="Neue Machina Ultra-Bold"/>
                  <a:cs typeface="Neue Machina Ultra-Bold"/>
                  <a:sym typeface="Neue Machina Ultra-Bold"/>
                </a:rPr>
                <a:t>Volume</a:t>
              </a:r>
            </a:p>
          </p:txBody>
        </p:sp>
      </p:grpSp>
      <p:sp>
        <p:nvSpPr>
          <p:cNvPr name="Freeform 8" id="8"/>
          <p:cNvSpPr/>
          <p:nvPr/>
        </p:nvSpPr>
        <p:spPr>
          <a:xfrm flipH="false" flipV="false" rot="0">
            <a:off x="717695" y="4182887"/>
            <a:ext cx="7488230" cy="5542364"/>
          </a:xfrm>
          <a:custGeom>
            <a:avLst/>
            <a:gdLst/>
            <a:ahLst/>
            <a:cxnLst/>
            <a:rect r="r" b="b" t="t" l="l"/>
            <a:pathLst>
              <a:path h="5542364" w="7488230">
                <a:moveTo>
                  <a:pt x="0" y="0"/>
                </a:moveTo>
                <a:lnTo>
                  <a:pt x="7488230" y="0"/>
                </a:lnTo>
                <a:lnTo>
                  <a:pt x="7488230" y="5542364"/>
                </a:lnTo>
                <a:lnTo>
                  <a:pt x="0" y="5542364"/>
                </a:lnTo>
                <a:lnTo>
                  <a:pt x="0" y="0"/>
                </a:lnTo>
                <a:close/>
              </a:path>
            </a:pathLst>
          </a:custGeom>
          <a:blipFill>
            <a:blip r:embed="rId2"/>
            <a:stretch>
              <a:fillRect l="0" t="0" r="0" b="0"/>
            </a:stretch>
          </a:blipFill>
        </p:spPr>
      </p:sp>
      <p:sp>
        <p:nvSpPr>
          <p:cNvPr name="Freeform 9" id="9"/>
          <p:cNvSpPr/>
          <p:nvPr/>
        </p:nvSpPr>
        <p:spPr>
          <a:xfrm flipH="false" flipV="false" rot="0">
            <a:off x="9439258" y="4208479"/>
            <a:ext cx="7442269" cy="5527379"/>
          </a:xfrm>
          <a:custGeom>
            <a:avLst/>
            <a:gdLst/>
            <a:ahLst/>
            <a:cxnLst/>
            <a:rect r="r" b="b" t="t" l="l"/>
            <a:pathLst>
              <a:path h="5527379" w="7442269">
                <a:moveTo>
                  <a:pt x="0" y="0"/>
                </a:moveTo>
                <a:lnTo>
                  <a:pt x="7442269" y="0"/>
                </a:lnTo>
                <a:lnTo>
                  <a:pt x="7442269" y="5527379"/>
                </a:lnTo>
                <a:lnTo>
                  <a:pt x="0" y="5527379"/>
                </a:lnTo>
                <a:lnTo>
                  <a:pt x="0" y="0"/>
                </a:lnTo>
                <a:close/>
              </a:path>
            </a:pathLst>
          </a:custGeom>
          <a:blipFill>
            <a:blip r:embed="rId3"/>
            <a:stretch>
              <a:fillRect l="0" t="0" r="0" b="0"/>
            </a:stretch>
          </a:blipFill>
        </p:spPr>
      </p:sp>
      <p:sp>
        <p:nvSpPr>
          <p:cNvPr name="TextBox 10" id="10"/>
          <p:cNvSpPr txBox="true"/>
          <p:nvPr/>
        </p:nvSpPr>
        <p:spPr>
          <a:xfrm rot="0">
            <a:off x="4205329" y="981075"/>
            <a:ext cx="13053971" cy="1626434"/>
          </a:xfrm>
          <a:prstGeom prst="rect">
            <a:avLst/>
          </a:prstGeom>
        </p:spPr>
        <p:txBody>
          <a:bodyPr anchor="t" rtlCol="false" tIns="0" lIns="0" bIns="0" rIns="0">
            <a:spAutoFit/>
          </a:bodyPr>
          <a:lstStyle/>
          <a:p>
            <a:pPr algn="just">
              <a:lnSpc>
                <a:spcPts val="3279"/>
              </a:lnSpc>
            </a:pPr>
            <a:r>
              <a:rPr lang="en-US" sz="2342">
                <a:solidFill>
                  <a:srgbClr val="000000"/>
                </a:solidFill>
                <a:latin typeface="Raleway"/>
                <a:ea typeface="Raleway"/>
                <a:cs typeface="Raleway"/>
                <a:sym typeface="Raleway"/>
              </a:rPr>
              <a:t>Mengacu pada banyaknya data yang dikumpulkan. pada scraper menggunakan library google_play_scraper untuk mengambil 10.000 ulasan aplikasi dan 5 variabel  data disimpan dalam CSV. Selain itu, scraping artikel berita ini menghasilkan ribuan teks artikel. Semuanya mencerminkan skala data yang besar dan terus berlanjut.</a:t>
            </a:r>
          </a:p>
        </p:txBody>
      </p:sp>
      <p:sp>
        <p:nvSpPr>
          <p:cNvPr name="TextBox 11" id="11"/>
          <p:cNvSpPr txBox="true"/>
          <p:nvPr/>
        </p:nvSpPr>
        <p:spPr>
          <a:xfrm rot="0">
            <a:off x="3685480" y="3493706"/>
            <a:ext cx="1552659" cy="381199"/>
          </a:xfrm>
          <a:prstGeom prst="rect">
            <a:avLst/>
          </a:prstGeom>
        </p:spPr>
        <p:txBody>
          <a:bodyPr anchor="t" rtlCol="false" tIns="0" lIns="0" bIns="0" rIns="0">
            <a:spAutoFit/>
          </a:bodyPr>
          <a:lstStyle/>
          <a:p>
            <a:pPr algn="just">
              <a:lnSpc>
                <a:spcPts val="3139"/>
              </a:lnSpc>
            </a:pPr>
            <a:r>
              <a:rPr lang="en-US" b="true" sz="2242">
                <a:solidFill>
                  <a:srgbClr val="000000"/>
                </a:solidFill>
                <a:latin typeface="Raleway Bold"/>
                <a:ea typeface="Raleway Bold"/>
                <a:cs typeface="Raleway Bold"/>
                <a:sym typeface="Raleway Bold"/>
              </a:rPr>
              <a:t>DETIKCOM</a:t>
            </a:r>
          </a:p>
        </p:txBody>
      </p:sp>
      <p:sp>
        <p:nvSpPr>
          <p:cNvPr name="TextBox 12" id="12"/>
          <p:cNvSpPr txBox="true"/>
          <p:nvPr/>
        </p:nvSpPr>
        <p:spPr>
          <a:xfrm rot="0">
            <a:off x="12302499" y="3493706"/>
            <a:ext cx="2182560" cy="381199"/>
          </a:xfrm>
          <a:prstGeom prst="rect">
            <a:avLst/>
          </a:prstGeom>
        </p:spPr>
        <p:txBody>
          <a:bodyPr anchor="t" rtlCol="false" tIns="0" lIns="0" bIns="0" rIns="0">
            <a:spAutoFit/>
          </a:bodyPr>
          <a:lstStyle/>
          <a:p>
            <a:pPr algn="just">
              <a:lnSpc>
                <a:spcPts val="3139"/>
              </a:lnSpc>
            </a:pPr>
            <a:r>
              <a:rPr lang="en-US" b="true" sz="2242">
                <a:solidFill>
                  <a:srgbClr val="000000"/>
                </a:solidFill>
                <a:latin typeface="Raleway Bold"/>
                <a:ea typeface="Raleway Bold"/>
                <a:cs typeface="Raleway Bold"/>
                <a:sym typeface="Raleway Bold"/>
              </a:rPr>
              <a:t>CNN Indonesia</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795607" y="0"/>
            <a:ext cx="3763775" cy="10287000"/>
            <a:chOff x="0" y="0"/>
            <a:chExt cx="346742" cy="947703"/>
          </a:xfrm>
        </p:grpSpPr>
        <p:sp>
          <p:nvSpPr>
            <p:cNvPr name="Freeform 3" id="3"/>
            <p:cNvSpPr/>
            <p:nvPr/>
          </p:nvSpPr>
          <p:spPr>
            <a:xfrm flipH="false" flipV="false" rot="0">
              <a:off x="0" y="0"/>
              <a:ext cx="346742" cy="947703"/>
            </a:xfrm>
            <a:custGeom>
              <a:avLst/>
              <a:gdLst/>
              <a:ahLst/>
              <a:cxnLst/>
              <a:rect r="r" b="b" t="t" l="l"/>
              <a:pathLst>
                <a:path h="947703" w="346742">
                  <a:moveTo>
                    <a:pt x="0" y="0"/>
                  </a:moveTo>
                  <a:lnTo>
                    <a:pt x="346742" y="0"/>
                  </a:lnTo>
                  <a:lnTo>
                    <a:pt x="346742" y="947703"/>
                  </a:lnTo>
                  <a:lnTo>
                    <a:pt x="0" y="947703"/>
                  </a:lnTo>
                  <a:close/>
                </a:path>
              </a:pathLst>
            </a:custGeom>
            <a:solidFill>
              <a:srgbClr val="C6FF4D"/>
            </a:solidFill>
          </p:spPr>
        </p:sp>
        <p:sp>
          <p:nvSpPr>
            <p:cNvPr name="TextBox 4" id="4"/>
            <p:cNvSpPr txBox="true"/>
            <p:nvPr/>
          </p:nvSpPr>
          <p:spPr>
            <a:xfrm>
              <a:off x="0" y="-47625"/>
              <a:ext cx="346742" cy="99532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5400000">
            <a:off x="-1098502" y="6484013"/>
            <a:ext cx="5216608" cy="331966"/>
          </a:xfrm>
          <a:custGeom>
            <a:avLst/>
            <a:gdLst/>
            <a:ahLst/>
            <a:cxnLst/>
            <a:rect r="r" b="b" t="t" l="l"/>
            <a:pathLst>
              <a:path h="331966" w="5216608">
                <a:moveTo>
                  <a:pt x="0" y="0"/>
                </a:moveTo>
                <a:lnTo>
                  <a:pt x="5216608" y="0"/>
                </a:lnTo>
                <a:lnTo>
                  <a:pt x="5216608" y="331966"/>
                </a:lnTo>
                <a:lnTo>
                  <a:pt x="0" y="331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423522" y="1028700"/>
            <a:ext cx="2172561" cy="1710398"/>
          </a:xfrm>
          <a:custGeom>
            <a:avLst/>
            <a:gdLst/>
            <a:ahLst/>
            <a:cxnLst/>
            <a:rect r="r" b="b" t="t" l="l"/>
            <a:pathLst>
              <a:path h="1710398" w="2172561">
                <a:moveTo>
                  <a:pt x="0" y="0"/>
                </a:moveTo>
                <a:lnTo>
                  <a:pt x="2172561" y="0"/>
                </a:lnTo>
                <a:lnTo>
                  <a:pt x="2172561" y="1710398"/>
                </a:lnTo>
                <a:lnTo>
                  <a:pt x="0" y="17103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4726904" y="1215168"/>
            <a:ext cx="12532396" cy="8043132"/>
            <a:chOff x="0" y="0"/>
            <a:chExt cx="3533093" cy="2267494"/>
          </a:xfrm>
        </p:grpSpPr>
        <p:sp>
          <p:nvSpPr>
            <p:cNvPr name="Freeform 8" id="8"/>
            <p:cNvSpPr/>
            <p:nvPr/>
          </p:nvSpPr>
          <p:spPr>
            <a:xfrm flipH="false" flipV="false" rot="0">
              <a:off x="0" y="0"/>
              <a:ext cx="3533093" cy="2267494"/>
            </a:xfrm>
            <a:custGeom>
              <a:avLst/>
              <a:gdLst/>
              <a:ahLst/>
              <a:cxnLst/>
              <a:rect r="r" b="b" t="t" l="l"/>
              <a:pathLst>
                <a:path h="2267494" w="3533093">
                  <a:moveTo>
                    <a:pt x="34594" y="0"/>
                  </a:moveTo>
                  <a:lnTo>
                    <a:pt x="3498499" y="0"/>
                  </a:lnTo>
                  <a:cubicBezTo>
                    <a:pt x="3517605" y="0"/>
                    <a:pt x="3533093" y="15488"/>
                    <a:pt x="3533093" y="34594"/>
                  </a:cubicBezTo>
                  <a:lnTo>
                    <a:pt x="3533093" y="2232900"/>
                  </a:lnTo>
                  <a:cubicBezTo>
                    <a:pt x="3533093" y="2242075"/>
                    <a:pt x="3529448" y="2250874"/>
                    <a:pt x="3522961" y="2257362"/>
                  </a:cubicBezTo>
                  <a:cubicBezTo>
                    <a:pt x="3516473" y="2263849"/>
                    <a:pt x="3507673" y="2267494"/>
                    <a:pt x="3498499" y="2267494"/>
                  </a:cubicBezTo>
                  <a:lnTo>
                    <a:pt x="34594" y="2267494"/>
                  </a:lnTo>
                  <a:cubicBezTo>
                    <a:pt x="15488" y="2267494"/>
                    <a:pt x="0" y="2252006"/>
                    <a:pt x="0" y="2232900"/>
                  </a:cubicBezTo>
                  <a:lnTo>
                    <a:pt x="0" y="34594"/>
                  </a:lnTo>
                  <a:cubicBezTo>
                    <a:pt x="0" y="15488"/>
                    <a:pt x="15488" y="0"/>
                    <a:pt x="34594" y="0"/>
                  </a:cubicBezTo>
                  <a:close/>
                </a:path>
              </a:pathLst>
            </a:custGeom>
            <a:solidFill>
              <a:srgbClr val="FAFAFA"/>
            </a:solidFill>
            <a:ln w="38100" cap="rnd">
              <a:solidFill>
                <a:srgbClr val="000000"/>
              </a:solidFill>
              <a:prstDash val="solid"/>
              <a:round/>
            </a:ln>
          </p:spPr>
        </p:sp>
        <p:sp>
          <p:nvSpPr>
            <p:cNvPr name="TextBox 9" id="9"/>
            <p:cNvSpPr txBox="true"/>
            <p:nvPr/>
          </p:nvSpPr>
          <p:spPr>
            <a:xfrm>
              <a:off x="0" y="-47625"/>
              <a:ext cx="3533093" cy="2315119"/>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3696623" y="619829"/>
            <a:ext cx="3887962" cy="1190678"/>
            <a:chOff x="0" y="0"/>
            <a:chExt cx="2654063" cy="812800"/>
          </a:xfrm>
        </p:grpSpPr>
        <p:sp>
          <p:nvSpPr>
            <p:cNvPr name="Freeform 11" id="11"/>
            <p:cNvSpPr/>
            <p:nvPr/>
          </p:nvSpPr>
          <p:spPr>
            <a:xfrm flipH="false" flipV="false" rot="0">
              <a:off x="0" y="0"/>
              <a:ext cx="2654063" cy="812800"/>
            </a:xfrm>
            <a:custGeom>
              <a:avLst/>
              <a:gdLst/>
              <a:ahLst/>
              <a:cxnLst/>
              <a:rect r="r" b="b" t="t" l="l"/>
              <a:pathLst>
                <a:path h="812800" w="2654063">
                  <a:moveTo>
                    <a:pt x="1327031" y="0"/>
                  </a:moveTo>
                  <a:cubicBezTo>
                    <a:pt x="594132" y="0"/>
                    <a:pt x="0" y="181951"/>
                    <a:pt x="0" y="406400"/>
                  </a:cubicBezTo>
                  <a:cubicBezTo>
                    <a:pt x="0" y="630849"/>
                    <a:pt x="594132" y="812800"/>
                    <a:pt x="1327031" y="812800"/>
                  </a:cubicBezTo>
                  <a:cubicBezTo>
                    <a:pt x="2059930" y="812800"/>
                    <a:pt x="2654063" y="630849"/>
                    <a:pt x="2654063" y="406400"/>
                  </a:cubicBezTo>
                  <a:cubicBezTo>
                    <a:pt x="2654063" y="181951"/>
                    <a:pt x="2059930" y="0"/>
                    <a:pt x="1327031" y="0"/>
                  </a:cubicBezTo>
                  <a:close/>
                </a:path>
              </a:pathLst>
            </a:custGeom>
            <a:solidFill>
              <a:srgbClr val="C6FF4D"/>
            </a:solidFill>
            <a:ln w="38100" cap="sq">
              <a:solidFill>
                <a:srgbClr val="000000"/>
              </a:solidFill>
              <a:prstDash val="solid"/>
              <a:miter/>
            </a:ln>
          </p:spPr>
        </p:sp>
        <p:sp>
          <p:nvSpPr>
            <p:cNvPr name="TextBox 12" id="12"/>
            <p:cNvSpPr txBox="true"/>
            <p:nvPr/>
          </p:nvSpPr>
          <p:spPr>
            <a:xfrm>
              <a:off x="248818" y="9525"/>
              <a:ext cx="2156426" cy="727075"/>
            </a:xfrm>
            <a:prstGeom prst="rect">
              <a:avLst/>
            </a:prstGeom>
          </p:spPr>
          <p:txBody>
            <a:bodyPr anchor="ctr" rtlCol="false" tIns="50800" lIns="50800" bIns="50800" rIns="50800"/>
            <a:lstStyle/>
            <a:p>
              <a:pPr algn="ctr">
                <a:lnSpc>
                  <a:spcPts val="4899"/>
                </a:lnSpc>
              </a:pPr>
              <a:r>
                <a:rPr lang="en-US" b="true" sz="3499">
                  <a:solidFill>
                    <a:srgbClr val="000000"/>
                  </a:solidFill>
                  <a:latin typeface="Neue Machina Ultra-Bold"/>
                  <a:ea typeface="Neue Machina Ultra-Bold"/>
                  <a:cs typeface="Neue Machina Ultra-Bold"/>
                  <a:sym typeface="Neue Machina Ultra-Bold"/>
                </a:rPr>
                <a:t>Velocity</a:t>
              </a:r>
            </a:p>
          </p:txBody>
        </p:sp>
      </p:grpSp>
      <p:sp>
        <p:nvSpPr>
          <p:cNvPr name="Freeform 13" id="13"/>
          <p:cNvSpPr/>
          <p:nvPr/>
        </p:nvSpPr>
        <p:spPr>
          <a:xfrm flipH="false" flipV="false" rot="0">
            <a:off x="5177567" y="4608725"/>
            <a:ext cx="8362310" cy="4082543"/>
          </a:xfrm>
          <a:custGeom>
            <a:avLst/>
            <a:gdLst/>
            <a:ahLst/>
            <a:cxnLst/>
            <a:rect r="r" b="b" t="t" l="l"/>
            <a:pathLst>
              <a:path h="4082543" w="8362310">
                <a:moveTo>
                  <a:pt x="0" y="0"/>
                </a:moveTo>
                <a:lnTo>
                  <a:pt x="8362310" y="0"/>
                </a:lnTo>
                <a:lnTo>
                  <a:pt x="8362310" y="4082542"/>
                </a:lnTo>
                <a:lnTo>
                  <a:pt x="0" y="4082542"/>
                </a:lnTo>
                <a:lnTo>
                  <a:pt x="0" y="0"/>
                </a:lnTo>
                <a:close/>
              </a:path>
            </a:pathLst>
          </a:custGeom>
          <a:blipFill>
            <a:blip r:embed="rId6"/>
            <a:stretch>
              <a:fillRect l="0" t="0" r="0" b="0"/>
            </a:stretch>
          </a:blipFill>
        </p:spPr>
      </p:sp>
      <p:sp>
        <p:nvSpPr>
          <p:cNvPr name="TextBox 14" id="14"/>
          <p:cNvSpPr txBox="true"/>
          <p:nvPr/>
        </p:nvSpPr>
        <p:spPr>
          <a:xfrm rot="0">
            <a:off x="5177567" y="1936879"/>
            <a:ext cx="11631069" cy="2445584"/>
          </a:xfrm>
          <a:prstGeom prst="rect">
            <a:avLst/>
          </a:prstGeom>
        </p:spPr>
        <p:txBody>
          <a:bodyPr anchor="t" rtlCol="false" tIns="0" lIns="0" bIns="0" rIns="0">
            <a:spAutoFit/>
          </a:bodyPr>
          <a:lstStyle/>
          <a:p>
            <a:pPr algn="just">
              <a:lnSpc>
                <a:spcPts val="3279"/>
              </a:lnSpc>
            </a:pPr>
            <a:r>
              <a:rPr lang="en-US" sz="2342">
                <a:solidFill>
                  <a:srgbClr val="000000"/>
                </a:solidFill>
                <a:latin typeface="Raleway"/>
                <a:ea typeface="Raleway"/>
                <a:cs typeface="Raleway"/>
                <a:sym typeface="Raleway"/>
              </a:rPr>
              <a:t>Velocity adalah kecepatan data dihasilkan dan diproses. Dengan memilih ulasan terbaru dan scraping website yang selalu diperbarui, notebook ini menangani aliran data yang cepat. </a:t>
            </a:r>
          </a:p>
          <a:p>
            <a:pPr algn="just">
              <a:lnSpc>
                <a:spcPts val="3279"/>
              </a:lnSpc>
            </a:pPr>
            <a:r>
              <a:rPr lang="en-US" sz="2342">
                <a:solidFill>
                  <a:srgbClr val="000000"/>
                </a:solidFill>
                <a:latin typeface="Raleway"/>
                <a:ea typeface="Raleway"/>
                <a:cs typeface="Raleway"/>
                <a:sym typeface="Raleway"/>
              </a:rPr>
              <a:t>Proses pengambilan data terbaru secara otomatis (misal Sort.NEWEST) dan penjadwalan scraping untuk data dapat diolah secara real-time atau near mendekati real-time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208338" y="769929"/>
            <a:ext cx="16849536" cy="9150091"/>
            <a:chOff x="0" y="0"/>
            <a:chExt cx="4750167" cy="2579564"/>
          </a:xfrm>
        </p:grpSpPr>
        <p:sp>
          <p:nvSpPr>
            <p:cNvPr name="Freeform 3" id="3"/>
            <p:cNvSpPr/>
            <p:nvPr/>
          </p:nvSpPr>
          <p:spPr>
            <a:xfrm flipH="false" flipV="false" rot="0">
              <a:off x="0" y="0"/>
              <a:ext cx="4750167" cy="2579564"/>
            </a:xfrm>
            <a:custGeom>
              <a:avLst/>
              <a:gdLst/>
              <a:ahLst/>
              <a:cxnLst/>
              <a:rect r="r" b="b" t="t" l="l"/>
              <a:pathLst>
                <a:path h="2579564" w="4750167">
                  <a:moveTo>
                    <a:pt x="25731" y="0"/>
                  </a:moveTo>
                  <a:lnTo>
                    <a:pt x="4724437" y="0"/>
                  </a:lnTo>
                  <a:cubicBezTo>
                    <a:pt x="4738648" y="0"/>
                    <a:pt x="4750167" y="11520"/>
                    <a:pt x="4750167" y="25731"/>
                  </a:cubicBezTo>
                  <a:lnTo>
                    <a:pt x="4750167" y="2553834"/>
                  </a:lnTo>
                  <a:cubicBezTo>
                    <a:pt x="4750167" y="2560658"/>
                    <a:pt x="4747456" y="2567203"/>
                    <a:pt x="4742631" y="2572028"/>
                  </a:cubicBezTo>
                  <a:cubicBezTo>
                    <a:pt x="4737806" y="2576854"/>
                    <a:pt x="4731261" y="2579564"/>
                    <a:pt x="4724437" y="2579564"/>
                  </a:cubicBezTo>
                  <a:lnTo>
                    <a:pt x="25731" y="2579564"/>
                  </a:lnTo>
                  <a:cubicBezTo>
                    <a:pt x="18906" y="2579564"/>
                    <a:pt x="12362" y="2576854"/>
                    <a:pt x="7536" y="2572028"/>
                  </a:cubicBezTo>
                  <a:cubicBezTo>
                    <a:pt x="2711" y="2567203"/>
                    <a:pt x="0" y="2560658"/>
                    <a:pt x="0" y="2553834"/>
                  </a:cubicBezTo>
                  <a:lnTo>
                    <a:pt x="0" y="25731"/>
                  </a:lnTo>
                  <a:cubicBezTo>
                    <a:pt x="0" y="18906"/>
                    <a:pt x="2711" y="12362"/>
                    <a:pt x="7536" y="7536"/>
                  </a:cubicBezTo>
                  <a:cubicBezTo>
                    <a:pt x="12362" y="2711"/>
                    <a:pt x="18906" y="0"/>
                    <a:pt x="25731" y="0"/>
                  </a:cubicBezTo>
                  <a:close/>
                </a:path>
              </a:pathLst>
            </a:custGeom>
            <a:solidFill>
              <a:srgbClr val="FAFAFA"/>
            </a:solidFill>
            <a:ln w="38100" cap="rnd">
              <a:solidFill>
                <a:srgbClr val="000000"/>
              </a:solidFill>
              <a:prstDash val="solid"/>
              <a:round/>
            </a:ln>
          </p:spPr>
        </p:sp>
        <p:sp>
          <p:nvSpPr>
            <p:cNvPr name="TextBox 4" id="4"/>
            <p:cNvSpPr txBox="true"/>
            <p:nvPr/>
          </p:nvSpPr>
          <p:spPr>
            <a:xfrm>
              <a:off x="0" y="-47625"/>
              <a:ext cx="4750167" cy="262718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208338" y="433361"/>
            <a:ext cx="3887962" cy="1190678"/>
            <a:chOff x="0" y="0"/>
            <a:chExt cx="2654063" cy="812800"/>
          </a:xfrm>
        </p:grpSpPr>
        <p:sp>
          <p:nvSpPr>
            <p:cNvPr name="Freeform 6" id="6"/>
            <p:cNvSpPr/>
            <p:nvPr/>
          </p:nvSpPr>
          <p:spPr>
            <a:xfrm flipH="false" flipV="false" rot="0">
              <a:off x="0" y="0"/>
              <a:ext cx="2654063" cy="812800"/>
            </a:xfrm>
            <a:custGeom>
              <a:avLst/>
              <a:gdLst/>
              <a:ahLst/>
              <a:cxnLst/>
              <a:rect r="r" b="b" t="t" l="l"/>
              <a:pathLst>
                <a:path h="812800" w="2654063">
                  <a:moveTo>
                    <a:pt x="1327031" y="0"/>
                  </a:moveTo>
                  <a:cubicBezTo>
                    <a:pt x="594132" y="0"/>
                    <a:pt x="0" y="181951"/>
                    <a:pt x="0" y="406400"/>
                  </a:cubicBezTo>
                  <a:cubicBezTo>
                    <a:pt x="0" y="630849"/>
                    <a:pt x="594132" y="812800"/>
                    <a:pt x="1327031" y="812800"/>
                  </a:cubicBezTo>
                  <a:cubicBezTo>
                    <a:pt x="2059930" y="812800"/>
                    <a:pt x="2654063" y="630849"/>
                    <a:pt x="2654063" y="406400"/>
                  </a:cubicBezTo>
                  <a:cubicBezTo>
                    <a:pt x="2654063" y="181951"/>
                    <a:pt x="2059930" y="0"/>
                    <a:pt x="1327031" y="0"/>
                  </a:cubicBezTo>
                  <a:close/>
                </a:path>
              </a:pathLst>
            </a:custGeom>
            <a:solidFill>
              <a:srgbClr val="C6FF4D"/>
            </a:solidFill>
            <a:ln w="38100" cap="sq">
              <a:solidFill>
                <a:srgbClr val="000000"/>
              </a:solidFill>
              <a:prstDash val="solid"/>
              <a:miter/>
            </a:ln>
          </p:spPr>
        </p:sp>
        <p:sp>
          <p:nvSpPr>
            <p:cNvPr name="TextBox 7" id="7"/>
            <p:cNvSpPr txBox="true"/>
            <p:nvPr/>
          </p:nvSpPr>
          <p:spPr>
            <a:xfrm>
              <a:off x="248818" y="9525"/>
              <a:ext cx="2156426" cy="727075"/>
            </a:xfrm>
            <a:prstGeom prst="rect">
              <a:avLst/>
            </a:prstGeom>
          </p:spPr>
          <p:txBody>
            <a:bodyPr anchor="ctr" rtlCol="false" tIns="50800" lIns="50800" bIns="50800" rIns="50800"/>
            <a:lstStyle/>
            <a:p>
              <a:pPr algn="ctr">
                <a:lnSpc>
                  <a:spcPts val="4899"/>
                </a:lnSpc>
              </a:pPr>
              <a:r>
                <a:rPr lang="en-US" b="true" sz="3499">
                  <a:solidFill>
                    <a:srgbClr val="000000"/>
                  </a:solidFill>
                  <a:latin typeface="Neue Machina Ultra-Bold"/>
                  <a:ea typeface="Neue Machina Ultra-Bold"/>
                  <a:cs typeface="Neue Machina Ultra-Bold"/>
                  <a:sym typeface="Neue Machina Ultra-Bold"/>
                </a:rPr>
                <a:t>Veraity</a:t>
              </a:r>
            </a:p>
          </p:txBody>
        </p:sp>
      </p:grpSp>
      <p:sp>
        <p:nvSpPr>
          <p:cNvPr name="Freeform 8" id="8"/>
          <p:cNvSpPr/>
          <p:nvPr/>
        </p:nvSpPr>
        <p:spPr>
          <a:xfrm flipH="false" flipV="false" rot="0">
            <a:off x="9462511" y="4109890"/>
            <a:ext cx="6724254" cy="5443444"/>
          </a:xfrm>
          <a:custGeom>
            <a:avLst/>
            <a:gdLst/>
            <a:ahLst/>
            <a:cxnLst/>
            <a:rect r="r" b="b" t="t" l="l"/>
            <a:pathLst>
              <a:path h="5443444" w="6724254">
                <a:moveTo>
                  <a:pt x="0" y="0"/>
                </a:moveTo>
                <a:lnTo>
                  <a:pt x="6724255" y="0"/>
                </a:lnTo>
                <a:lnTo>
                  <a:pt x="6724255" y="5443444"/>
                </a:lnTo>
                <a:lnTo>
                  <a:pt x="0" y="5443444"/>
                </a:lnTo>
                <a:lnTo>
                  <a:pt x="0" y="0"/>
                </a:lnTo>
                <a:close/>
              </a:path>
            </a:pathLst>
          </a:custGeom>
          <a:blipFill>
            <a:blip r:embed="rId2"/>
            <a:stretch>
              <a:fillRect l="0" t="0" r="0" b="0"/>
            </a:stretch>
          </a:blipFill>
        </p:spPr>
      </p:sp>
      <p:sp>
        <p:nvSpPr>
          <p:cNvPr name="Freeform 9" id="9"/>
          <p:cNvSpPr/>
          <p:nvPr/>
        </p:nvSpPr>
        <p:spPr>
          <a:xfrm flipH="false" flipV="false" rot="0">
            <a:off x="859293" y="4156786"/>
            <a:ext cx="7215610" cy="5396549"/>
          </a:xfrm>
          <a:custGeom>
            <a:avLst/>
            <a:gdLst/>
            <a:ahLst/>
            <a:cxnLst/>
            <a:rect r="r" b="b" t="t" l="l"/>
            <a:pathLst>
              <a:path h="5396549" w="7215610">
                <a:moveTo>
                  <a:pt x="0" y="0"/>
                </a:moveTo>
                <a:lnTo>
                  <a:pt x="7215611" y="0"/>
                </a:lnTo>
                <a:lnTo>
                  <a:pt x="7215611" y="5396548"/>
                </a:lnTo>
                <a:lnTo>
                  <a:pt x="0" y="5396548"/>
                </a:lnTo>
                <a:lnTo>
                  <a:pt x="0" y="0"/>
                </a:lnTo>
                <a:close/>
              </a:path>
            </a:pathLst>
          </a:custGeom>
          <a:blipFill>
            <a:blip r:embed="rId3"/>
            <a:stretch>
              <a:fillRect l="0" t="0" r="0" b="0"/>
            </a:stretch>
          </a:blipFill>
        </p:spPr>
      </p:sp>
      <p:sp>
        <p:nvSpPr>
          <p:cNvPr name="TextBox 10" id="10"/>
          <p:cNvSpPr txBox="true"/>
          <p:nvPr/>
        </p:nvSpPr>
        <p:spPr>
          <a:xfrm rot="0">
            <a:off x="4644684" y="1151599"/>
            <a:ext cx="11713230" cy="1626434"/>
          </a:xfrm>
          <a:prstGeom prst="rect">
            <a:avLst/>
          </a:prstGeom>
        </p:spPr>
        <p:txBody>
          <a:bodyPr anchor="t" rtlCol="false" tIns="0" lIns="0" bIns="0" rIns="0">
            <a:spAutoFit/>
          </a:bodyPr>
          <a:lstStyle/>
          <a:p>
            <a:pPr algn="just">
              <a:lnSpc>
                <a:spcPts val="3279"/>
              </a:lnSpc>
            </a:pPr>
            <a:r>
              <a:rPr lang="en-US" sz="2342">
                <a:solidFill>
                  <a:srgbClr val="000000"/>
                </a:solidFill>
                <a:latin typeface="Raleway"/>
                <a:ea typeface="Raleway"/>
                <a:cs typeface="Raleway"/>
                <a:sym typeface="Raleway"/>
              </a:rPr>
              <a:t>Bagian ini mengacu pada berbagai tipe dan format data. Notebook menangani data terstruktur (CSV dari ulasan) dan data semi-terstruktur/tidak terstruktur (teks artikel). Ini menunjukkan variasi data dari sumber yang berbeda. Variabel yang terdapat pada dataset: </a:t>
            </a:r>
            <a:r>
              <a:rPr lang="en-US" b="true" sz="2342">
                <a:solidFill>
                  <a:srgbClr val="000000"/>
                </a:solidFill>
                <a:latin typeface="Raleway Bold"/>
                <a:ea typeface="Raleway Bold"/>
                <a:cs typeface="Raleway Bold"/>
                <a:sym typeface="Raleway Bold"/>
              </a:rPr>
              <a:t>review ID, username, rating, teks review, tanggal.</a:t>
            </a:r>
          </a:p>
        </p:txBody>
      </p:sp>
      <p:sp>
        <p:nvSpPr>
          <p:cNvPr name="TextBox 11" id="11"/>
          <p:cNvSpPr txBox="true"/>
          <p:nvPr/>
        </p:nvSpPr>
        <p:spPr>
          <a:xfrm rot="0">
            <a:off x="3685480" y="3493706"/>
            <a:ext cx="1552659" cy="381199"/>
          </a:xfrm>
          <a:prstGeom prst="rect">
            <a:avLst/>
          </a:prstGeom>
        </p:spPr>
        <p:txBody>
          <a:bodyPr anchor="t" rtlCol="false" tIns="0" lIns="0" bIns="0" rIns="0">
            <a:spAutoFit/>
          </a:bodyPr>
          <a:lstStyle/>
          <a:p>
            <a:pPr algn="just">
              <a:lnSpc>
                <a:spcPts val="3139"/>
              </a:lnSpc>
            </a:pPr>
            <a:r>
              <a:rPr lang="en-US" b="true" sz="2242">
                <a:solidFill>
                  <a:srgbClr val="000000"/>
                </a:solidFill>
                <a:latin typeface="Raleway Bold"/>
                <a:ea typeface="Raleway Bold"/>
                <a:cs typeface="Raleway Bold"/>
                <a:sym typeface="Raleway Bold"/>
              </a:rPr>
              <a:t>DETIKCOM</a:t>
            </a:r>
          </a:p>
        </p:txBody>
      </p:sp>
      <p:sp>
        <p:nvSpPr>
          <p:cNvPr name="TextBox 12" id="12"/>
          <p:cNvSpPr txBox="true"/>
          <p:nvPr/>
        </p:nvSpPr>
        <p:spPr>
          <a:xfrm rot="0">
            <a:off x="12302499" y="3493706"/>
            <a:ext cx="2182560" cy="381199"/>
          </a:xfrm>
          <a:prstGeom prst="rect">
            <a:avLst/>
          </a:prstGeom>
        </p:spPr>
        <p:txBody>
          <a:bodyPr anchor="t" rtlCol="false" tIns="0" lIns="0" bIns="0" rIns="0">
            <a:spAutoFit/>
          </a:bodyPr>
          <a:lstStyle/>
          <a:p>
            <a:pPr algn="just">
              <a:lnSpc>
                <a:spcPts val="3139"/>
              </a:lnSpc>
            </a:pPr>
            <a:r>
              <a:rPr lang="en-US" b="true" sz="2242">
                <a:solidFill>
                  <a:srgbClr val="000000"/>
                </a:solidFill>
                <a:latin typeface="Raleway Bold"/>
                <a:ea typeface="Raleway Bold"/>
                <a:cs typeface="Raleway Bold"/>
                <a:sym typeface="Raleway Bold"/>
              </a:rPr>
              <a:t>CNN Indonesia</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797199" y="274106"/>
            <a:ext cx="17067014" cy="9885745"/>
            <a:chOff x="0" y="0"/>
            <a:chExt cx="4811478" cy="2786957"/>
          </a:xfrm>
        </p:grpSpPr>
        <p:sp>
          <p:nvSpPr>
            <p:cNvPr name="Freeform 3" id="3"/>
            <p:cNvSpPr/>
            <p:nvPr/>
          </p:nvSpPr>
          <p:spPr>
            <a:xfrm flipH="false" flipV="false" rot="0">
              <a:off x="0" y="0"/>
              <a:ext cx="4811478" cy="2786957"/>
            </a:xfrm>
            <a:custGeom>
              <a:avLst/>
              <a:gdLst/>
              <a:ahLst/>
              <a:cxnLst/>
              <a:rect r="r" b="b" t="t" l="l"/>
              <a:pathLst>
                <a:path h="2786957" w="4811478">
                  <a:moveTo>
                    <a:pt x="25403" y="0"/>
                  </a:moveTo>
                  <a:lnTo>
                    <a:pt x="4786075" y="0"/>
                  </a:lnTo>
                  <a:cubicBezTo>
                    <a:pt x="4792812" y="0"/>
                    <a:pt x="4799274" y="2676"/>
                    <a:pt x="4804038" y="7440"/>
                  </a:cubicBezTo>
                  <a:cubicBezTo>
                    <a:pt x="4808802" y="12204"/>
                    <a:pt x="4811478" y="18665"/>
                    <a:pt x="4811478" y="25403"/>
                  </a:cubicBezTo>
                  <a:lnTo>
                    <a:pt x="4811478" y="2761555"/>
                  </a:lnTo>
                  <a:cubicBezTo>
                    <a:pt x="4811478" y="2775584"/>
                    <a:pt x="4800105" y="2786957"/>
                    <a:pt x="4786075" y="2786957"/>
                  </a:cubicBezTo>
                  <a:lnTo>
                    <a:pt x="25403" y="2786957"/>
                  </a:lnTo>
                  <a:cubicBezTo>
                    <a:pt x="11373" y="2786957"/>
                    <a:pt x="0" y="2775584"/>
                    <a:pt x="0" y="2761555"/>
                  </a:cubicBezTo>
                  <a:lnTo>
                    <a:pt x="0" y="25403"/>
                  </a:lnTo>
                  <a:cubicBezTo>
                    <a:pt x="0" y="11373"/>
                    <a:pt x="11373" y="0"/>
                    <a:pt x="25403" y="0"/>
                  </a:cubicBezTo>
                  <a:close/>
                </a:path>
              </a:pathLst>
            </a:custGeom>
            <a:solidFill>
              <a:srgbClr val="FAFAFA"/>
            </a:solidFill>
            <a:ln w="38100" cap="rnd">
              <a:solidFill>
                <a:srgbClr val="000000"/>
              </a:solidFill>
              <a:prstDash val="solid"/>
              <a:round/>
            </a:ln>
          </p:spPr>
        </p:sp>
        <p:sp>
          <p:nvSpPr>
            <p:cNvPr name="TextBox 4" id="4"/>
            <p:cNvSpPr txBox="true"/>
            <p:nvPr/>
          </p:nvSpPr>
          <p:spPr>
            <a:xfrm>
              <a:off x="0" y="-47625"/>
              <a:ext cx="4811478" cy="283458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209703" y="0"/>
            <a:ext cx="3887962" cy="1190678"/>
            <a:chOff x="0" y="0"/>
            <a:chExt cx="2654063" cy="812800"/>
          </a:xfrm>
        </p:grpSpPr>
        <p:sp>
          <p:nvSpPr>
            <p:cNvPr name="Freeform 6" id="6"/>
            <p:cNvSpPr/>
            <p:nvPr/>
          </p:nvSpPr>
          <p:spPr>
            <a:xfrm flipH="false" flipV="false" rot="0">
              <a:off x="0" y="0"/>
              <a:ext cx="2654063" cy="812800"/>
            </a:xfrm>
            <a:custGeom>
              <a:avLst/>
              <a:gdLst/>
              <a:ahLst/>
              <a:cxnLst/>
              <a:rect r="r" b="b" t="t" l="l"/>
              <a:pathLst>
                <a:path h="812800" w="2654063">
                  <a:moveTo>
                    <a:pt x="1327031" y="0"/>
                  </a:moveTo>
                  <a:cubicBezTo>
                    <a:pt x="594132" y="0"/>
                    <a:pt x="0" y="181951"/>
                    <a:pt x="0" y="406400"/>
                  </a:cubicBezTo>
                  <a:cubicBezTo>
                    <a:pt x="0" y="630849"/>
                    <a:pt x="594132" y="812800"/>
                    <a:pt x="1327031" y="812800"/>
                  </a:cubicBezTo>
                  <a:cubicBezTo>
                    <a:pt x="2059930" y="812800"/>
                    <a:pt x="2654063" y="630849"/>
                    <a:pt x="2654063" y="406400"/>
                  </a:cubicBezTo>
                  <a:cubicBezTo>
                    <a:pt x="2654063" y="181951"/>
                    <a:pt x="2059930" y="0"/>
                    <a:pt x="1327031" y="0"/>
                  </a:cubicBezTo>
                  <a:close/>
                </a:path>
              </a:pathLst>
            </a:custGeom>
            <a:solidFill>
              <a:srgbClr val="C6FF4D"/>
            </a:solidFill>
            <a:ln w="38100" cap="sq">
              <a:solidFill>
                <a:srgbClr val="000000"/>
              </a:solidFill>
              <a:prstDash val="solid"/>
              <a:miter/>
            </a:ln>
          </p:spPr>
        </p:sp>
        <p:sp>
          <p:nvSpPr>
            <p:cNvPr name="TextBox 7" id="7"/>
            <p:cNvSpPr txBox="true"/>
            <p:nvPr/>
          </p:nvSpPr>
          <p:spPr>
            <a:xfrm>
              <a:off x="248818" y="9525"/>
              <a:ext cx="2156426" cy="727075"/>
            </a:xfrm>
            <a:prstGeom prst="rect">
              <a:avLst/>
            </a:prstGeom>
          </p:spPr>
          <p:txBody>
            <a:bodyPr anchor="ctr" rtlCol="false" tIns="50800" lIns="50800" bIns="50800" rIns="50800"/>
            <a:lstStyle/>
            <a:p>
              <a:pPr algn="ctr">
                <a:lnSpc>
                  <a:spcPts val="4899"/>
                </a:lnSpc>
              </a:pPr>
              <a:r>
                <a:rPr lang="en-US" b="true" sz="3499">
                  <a:solidFill>
                    <a:srgbClr val="000000"/>
                  </a:solidFill>
                  <a:latin typeface="Neue Machina Ultra-Bold"/>
                  <a:ea typeface="Neue Machina Ultra-Bold"/>
                  <a:cs typeface="Neue Machina Ultra-Bold"/>
                  <a:sym typeface="Neue Machina Ultra-Bold"/>
                </a:rPr>
                <a:t>Veracity</a:t>
              </a:r>
            </a:p>
          </p:txBody>
        </p:sp>
      </p:grpSp>
      <p:sp>
        <p:nvSpPr>
          <p:cNvPr name="Freeform 8" id="8"/>
          <p:cNvSpPr/>
          <p:nvPr/>
        </p:nvSpPr>
        <p:spPr>
          <a:xfrm flipH="false" flipV="false" rot="0">
            <a:off x="1249720" y="2585802"/>
            <a:ext cx="6415412" cy="3288914"/>
          </a:xfrm>
          <a:custGeom>
            <a:avLst/>
            <a:gdLst/>
            <a:ahLst/>
            <a:cxnLst/>
            <a:rect r="r" b="b" t="t" l="l"/>
            <a:pathLst>
              <a:path h="3288914" w="6415412">
                <a:moveTo>
                  <a:pt x="0" y="0"/>
                </a:moveTo>
                <a:lnTo>
                  <a:pt x="6415412" y="0"/>
                </a:lnTo>
                <a:lnTo>
                  <a:pt x="6415412" y="3288914"/>
                </a:lnTo>
                <a:lnTo>
                  <a:pt x="0" y="3288914"/>
                </a:lnTo>
                <a:lnTo>
                  <a:pt x="0" y="0"/>
                </a:lnTo>
                <a:close/>
              </a:path>
            </a:pathLst>
          </a:custGeom>
          <a:blipFill>
            <a:blip r:embed="rId2"/>
            <a:stretch>
              <a:fillRect l="0" t="0" r="0" b="0"/>
            </a:stretch>
          </a:blipFill>
        </p:spPr>
      </p:sp>
      <p:sp>
        <p:nvSpPr>
          <p:cNvPr name="Freeform 9" id="9"/>
          <p:cNvSpPr/>
          <p:nvPr/>
        </p:nvSpPr>
        <p:spPr>
          <a:xfrm flipH="false" flipV="false" rot="0">
            <a:off x="9429522" y="2694875"/>
            <a:ext cx="6286313" cy="3622488"/>
          </a:xfrm>
          <a:custGeom>
            <a:avLst/>
            <a:gdLst/>
            <a:ahLst/>
            <a:cxnLst/>
            <a:rect r="r" b="b" t="t" l="l"/>
            <a:pathLst>
              <a:path h="3622488" w="6286313">
                <a:moveTo>
                  <a:pt x="0" y="0"/>
                </a:moveTo>
                <a:lnTo>
                  <a:pt x="6286314" y="0"/>
                </a:lnTo>
                <a:lnTo>
                  <a:pt x="6286314" y="3622488"/>
                </a:lnTo>
                <a:lnTo>
                  <a:pt x="0" y="3622488"/>
                </a:lnTo>
                <a:lnTo>
                  <a:pt x="0" y="0"/>
                </a:lnTo>
                <a:close/>
              </a:path>
            </a:pathLst>
          </a:custGeom>
          <a:blipFill>
            <a:blip r:embed="rId3"/>
            <a:stretch>
              <a:fillRect l="0" t="0" r="0" b="0"/>
            </a:stretch>
          </a:blipFill>
        </p:spPr>
      </p:sp>
      <p:sp>
        <p:nvSpPr>
          <p:cNvPr name="Freeform 10" id="10"/>
          <p:cNvSpPr/>
          <p:nvPr/>
        </p:nvSpPr>
        <p:spPr>
          <a:xfrm flipH="false" flipV="false" rot="0">
            <a:off x="1249720" y="6422138"/>
            <a:ext cx="6415412" cy="3288914"/>
          </a:xfrm>
          <a:custGeom>
            <a:avLst/>
            <a:gdLst/>
            <a:ahLst/>
            <a:cxnLst/>
            <a:rect r="r" b="b" t="t" l="l"/>
            <a:pathLst>
              <a:path h="3288914" w="6415412">
                <a:moveTo>
                  <a:pt x="0" y="0"/>
                </a:moveTo>
                <a:lnTo>
                  <a:pt x="6415412" y="0"/>
                </a:lnTo>
                <a:lnTo>
                  <a:pt x="6415412" y="3288914"/>
                </a:lnTo>
                <a:lnTo>
                  <a:pt x="0" y="3288914"/>
                </a:lnTo>
                <a:lnTo>
                  <a:pt x="0" y="0"/>
                </a:lnTo>
                <a:close/>
              </a:path>
            </a:pathLst>
          </a:custGeom>
          <a:blipFill>
            <a:blip r:embed="rId4"/>
            <a:stretch>
              <a:fillRect l="0" t="0" r="0" b="0"/>
            </a:stretch>
          </a:blipFill>
        </p:spPr>
      </p:sp>
      <p:sp>
        <p:nvSpPr>
          <p:cNvPr name="Freeform 11" id="11"/>
          <p:cNvSpPr/>
          <p:nvPr/>
        </p:nvSpPr>
        <p:spPr>
          <a:xfrm flipH="false" flipV="false" rot="0">
            <a:off x="9429522" y="6714624"/>
            <a:ext cx="6547490" cy="3355589"/>
          </a:xfrm>
          <a:custGeom>
            <a:avLst/>
            <a:gdLst/>
            <a:ahLst/>
            <a:cxnLst/>
            <a:rect r="r" b="b" t="t" l="l"/>
            <a:pathLst>
              <a:path h="3355589" w="6547490">
                <a:moveTo>
                  <a:pt x="0" y="0"/>
                </a:moveTo>
                <a:lnTo>
                  <a:pt x="6547491" y="0"/>
                </a:lnTo>
                <a:lnTo>
                  <a:pt x="6547491" y="3355589"/>
                </a:lnTo>
                <a:lnTo>
                  <a:pt x="0" y="3355589"/>
                </a:lnTo>
                <a:lnTo>
                  <a:pt x="0" y="0"/>
                </a:lnTo>
                <a:close/>
              </a:path>
            </a:pathLst>
          </a:custGeom>
          <a:blipFill>
            <a:blip r:embed="rId5"/>
            <a:stretch>
              <a:fillRect l="0" t="0" r="0" b="0"/>
            </a:stretch>
          </a:blipFill>
        </p:spPr>
      </p:sp>
      <p:sp>
        <p:nvSpPr>
          <p:cNvPr name="TextBox 12" id="12"/>
          <p:cNvSpPr txBox="true"/>
          <p:nvPr/>
        </p:nvSpPr>
        <p:spPr>
          <a:xfrm rot="0">
            <a:off x="4555628" y="655033"/>
            <a:ext cx="12703672" cy="1556814"/>
          </a:xfrm>
          <a:prstGeom prst="rect">
            <a:avLst/>
          </a:prstGeom>
        </p:spPr>
        <p:txBody>
          <a:bodyPr anchor="t" rtlCol="false" tIns="0" lIns="0" bIns="0" rIns="0">
            <a:spAutoFit/>
          </a:bodyPr>
          <a:lstStyle/>
          <a:p>
            <a:pPr algn="just">
              <a:lnSpc>
                <a:spcPts val="3139"/>
              </a:lnSpc>
            </a:pPr>
            <a:r>
              <a:rPr lang="en-US" sz="2242">
                <a:solidFill>
                  <a:srgbClr val="000000"/>
                </a:solidFill>
                <a:latin typeface="Raleway"/>
                <a:ea typeface="Raleway"/>
                <a:cs typeface="Raleway"/>
                <a:sym typeface="Raleway"/>
              </a:rPr>
              <a:t>Veracity berkaitan dengan kualitas dan keakuratan data. Notebook menyertakan pemeriksaan dasar (try-except) dan filter untuk menangani error saat scraping, menjaga agar data yang dianalisis memiliki tingkat kepercayaan yang lebih tinggi. Penanganan data yang mungkin mengandung noise, misalnya ulasan palsu, teks dengan bahasa tidak baku, atau duplikasi berita.</a:t>
            </a:r>
          </a:p>
        </p:txBody>
      </p:sp>
      <p:sp>
        <p:nvSpPr>
          <p:cNvPr name="TextBox 13" id="13"/>
          <p:cNvSpPr txBox="true"/>
          <p:nvPr/>
        </p:nvSpPr>
        <p:spPr>
          <a:xfrm rot="0">
            <a:off x="1028700" y="2164221"/>
            <a:ext cx="3372541" cy="381199"/>
          </a:xfrm>
          <a:prstGeom prst="rect">
            <a:avLst/>
          </a:prstGeom>
        </p:spPr>
        <p:txBody>
          <a:bodyPr anchor="t" rtlCol="false" tIns="0" lIns="0" bIns="0" rIns="0">
            <a:spAutoFit/>
          </a:bodyPr>
          <a:lstStyle/>
          <a:p>
            <a:pPr algn="just">
              <a:lnSpc>
                <a:spcPts val="3139"/>
              </a:lnSpc>
            </a:pPr>
            <a:r>
              <a:rPr lang="en-US" b="true" sz="2242">
                <a:solidFill>
                  <a:srgbClr val="000000"/>
                </a:solidFill>
                <a:latin typeface="Raleway Bold"/>
                <a:ea typeface="Raleway Bold"/>
                <a:cs typeface="Raleway Bold"/>
                <a:sym typeface="Raleway Bold"/>
              </a:rPr>
              <a:t>Sebelum Preprocessing</a:t>
            </a:r>
          </a:p>
        </p:txBody>
      </p:sp>
      <p:sp>
        <p:nvSpPr>
          <p:cNvPr name="TextBox 14" id="14"/>
          <p:cNvSpPr txBox="true"/>
          <p:nvPr/>
        </p:nvSpPr>
        <p:spPr>
          <a:xfrm rot="0">
            <a:off x="1028700" y="5936164"/>
            <a:ext cx="3372541" cy="381199"/>
          </a:xfrm>
          <a:prstGeom prst="rect">
            <a:avLst/>
          </a:prstGeom>
        </p:spPr>
        <p:txBody>
          <a:bodyPr anchor="t" rtlCol="false" tIns="0" lIns="0" bIns="0" rIns="0">
            <a:spAutoFit/>
          </a:bodyPr>
          <a:lstStyle/>
          <a:p>
            <a:pPr algn="just">
              <a:lnSpc>
                <a:spcPts val="3139"/>
              </a:lnSpc>
            </a:pPr>
            <a:r>
              <a:rPr lang="en-US" b="true" sz="2242">
                <a:solidFill>
                  <a:srgbClr val="000000"/>
                </a:solidFill>
                <a:latin typeface="Raleway Bold"/>
                <a:ea typeface="Raleway Bold"/>
                <a:cs typeface="Raleway Bold"/>
                <a:sym typeface="Raleway Bold"/>
              </a:rPr>
              <a:t>Setelah Preprocessing</a:t>
            </a:r>
          </a:p>
        </p:txBody>
      </p:sp>
      <p:sp>
        <p:nvSpPr>
          <p:cNvPr name="TextBox 15" id="15"/>
          <p:cNvSpPr txBox="true"/>
          <p:nvPr/>
        </p:nvSpPr>
        <p:spPr>
          <a:xfrm rot="0">
            <a:off x="8487029" y="2204603"/>
            <a:ext cx="3372541" cy="381199"/>
          </a:xfrm>
          <a:prstGeom prst="rect">
            <a:avLst/>
          </a:prstGeom>
        </p:spPr>
        <p:txBody>
          <a:bodyPr anchor="t" rtlCol="false" tIns="0" lIns="0" bIns="0" rIns="0">
            <a:spAutoFit/>
          </a:bodyPr>
          <a:lstStyle/>
          <a:p>
            <a:pPr algn="just">
              <a:lnSpc>
                <a:spcPts val="3139"/>
              </a:lnSpc>
            </a:pPr>
            <a:r>
              <a:rPr lang="en-US" b="true" sz="2242">
                <a:solidFill>
                  <a:srgbClr val="000000"/>
                </a:solidFill>
                <a:latin typeface="Raleway Bold"/>
                <a:ea typeface="Raleway Bold"/>
                <a:cs typeface="Raleway Bold"/>
                <a:sym typeface="Raleway Bold"/>
              </a:rPr>
              <a:t>Sebelum Preprocessing</a:t>
            </a:r>
          </a:p>
        </p:txBody>
      </p:sp>
      <p:sp>
        <p:nvSpPr>
          <p:cNvPr name="TextBox 16" id="16"/>
          <p:cNvSpPr txBox="true"/>
          <p:nvPr/>
        </p:nvSpPr>
        <p:spPr>
          <a:xfrm rot="0">
            <a:off x="8487029" y="6264876"/>
            <a:ext cx="3372541" cy="381199"/>
          </a:xfrm>
          <a:prstGeom prst="rect">
            <a:avLst/>
          </a:prstGeom>
        </p:spPr>
        <p:txBody>
          <a:bodyPr anchor="t" rtlCol="false" tIns="0" lIns="0" bIns="0" rIns="0">
            <a:spAutoFit/>
          </a:bodyPr>
          <a:lstStyle/>
          <a:p>
            <a:pPr algn="just">
              <a:lnSpc>
                <a:spcPts val="3139"/>
              </a:lnSpc>
            </a:pPr>
            <a:r>
              <a:rPr lang="en-US" b="true" sz="2242">
                <a:solidFill>
                  <a:srgbClr val="000000"/>
                </a:solidFill>
                <a:latin typeface="Raleway Bold"/>
                <a:ea typeface="Raleway Bold"/>
                <a:cs typeface="Raleway Bold"/>
                <a:sym typeface="Raleway Bold"/>
              </a:rPr>
              <a:t>Setelah Preprocessing</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797199" y="274106"/>
            <a:ext cx="16932558" cy="9796107"/>
            <a:chOff x="0" y="0"/>
            <a:chExt cx="4773573" cy="2761687"/>
          </a:xfrm>
        </p:grpSpPr>
        <p:sp>
          <p:nvSpPr>
            <p:cNvPr name="Freeform 3" id="3"/>
            <p:cNvSpPr/>
            <p:nvPr/>
          </p:nvSpPr>
          <p:spPr>
            <a:xfrm flipH="false" flipV="false" rot="0">
              <a:off x="0" y="0"/>
              <a:ext cx="4773573" cy="2761687"/>
            </a:xfrm>
            <a:custGeom>
              <a:avLst/>
              <a:gdLst/>
              <a:ahLst/>
              <a:cxnLst/>
              <a:rect r="r" b="b" t="t" l="l"/>
              <a:pathLst>
                <a:path h="2761687" w="4773573">
                  <a:moveTo>
                    <a:pt x="25604" y="0"/>
                  </a:moveTo>
                  <a:lnTo>
                    <a:pt x="4747968" y="0"/>
                  </a:lnTo>
                  <a:cubicBezTo>
                    <a:pt x="4762109" y="0"/>
                    <a:pt x="4773573" y="11463"/>
                    <a:pt x="4773573" y="25604"/>
                  </a:cubicBezTo>
                  <a:lnTo>
                    <a:pt x="4773573" y="2736083"/>
                  </a:lnTo>
                  <a:cubicBezTo>
                    <a:pt x="4773573" y="2742874"/>
                    <a:pt x="4770875" y="2749386"/>
                    <a:pt x="4766073" y="2754188"/>
                  </a:cubicBezTo>
                  <a:cubicBezTo>
                    <a:pt x="4761271" y="2758990"/>
                    <a:pt x="4754759" y="2761687"/>
                    <a:pt x="4747968" y="2761687"/>
                  </a:cubicBezTo>
                  <a:lnTo>
                    <a:pt x="25604" y="2761687"/>
                  </a:lnTo>
                  <a:cubicBezTo>
                    <a:pt x="11463" y="2761687"/>
                    <a:pt x="0" y="2750224"/>
                    <a:pt x="0" y="2736083"/>
                  </a:cubicBezTo>
                  <a:lnTo>
                    <a:pt x="0" y="25604"/>
                  </a:lnTo>
                  <a:cubicBezTo>
                    <a:pt x="0" y="11463"/>
                    <a:pt x="11463" y="0"/>
                    <a:pt x="25604" y="0"/>
                  </a:cubicBezTo>
                  <a:close/>
                </a:path>
              </a:pathLst>
            </a:custGeom>
            <a:solidFill>
              <a:srgbClr val="FAFAFA"/>
            </a:solidFill>
            <a:ln w="38100" cap="rnd">
              <a:solidFill>
                <a:srgbClr val="000000"/>
              </a:solidFill>
              <a:prstDash val="solid"/>
              <a:round/>
            </a:ln>
          </p:spPr>
        </p:sp>
        <p:sp>
          <p:nvSpPr>
            <p:cNvPr name="TextBox 4" id="4"/>
            <p:cNvSpPr txBox="true"/>
            <p:nvPr/>
          </p:nvSpPr>
          <p:spPr>
            <a:xfrm>
              <a:off x="0" y="-47625"/>
              <a:ext cx="4773573" cy="280931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209703" y="0"/>
            <a:ext cx="3887962" cy="1190678"/>
            <a:chOff x="0" y="0"/>
            <a:chExt cx="2654063" cy="812800"/>
          </a:xfrm>
        </p:grpSpPr>
        <p:sp>
          <p:nvSpPr>
            <p:cNvPr name="Freeform 6" id="6"/>
            <p:cNvSpPr/>
            <p:nvPr/>
          </p:nvSpPr>
          <p:spPr>
            <a:xfrm flipH="false" flipV="false" rot="0">
              <a:off x="0" y="0"/>
              <a:ext cx="2654063" cy="812800"/>
            </a:xfrm>
            <a:custGeom>
              <a:avLst/>
              <a:gdLst/>
              <a:ahLst/>
              <a:cxnLst/>
              <a:rect r="r" b="b" t="t" l="l"/>
              <a:pathLst>
                <a:path h="812800" w="2654063">
                  <a:moveTo>
                    <a:pt x="1327031" y="0"/>
                  </a:moveTo>
                  <a:cubicBezTo>
                    <a:pt x="594132" y="0"/>
                    <a:pt x="0" y="181951"/>
                    <a:pt x="0" y="406400"/>
                  </a:cubicBezTo>
                  <a:cubicBezTo>
                    <a:pt x="0" y="630849"/>
                    <a:pt x="594132" y="812800"/>
                    <a:pt x="1327031" y="812800"/>
                  </a:cubicBezTo>
                  <a:cubicBezTo>
                    <a:pt x="2059930" y="812800"/>
                    <a:pt x="2654063" y="630849"/>
                    <a:pt x="2654063" y="406400"/>
                  </a:cubicBezTo>
                  <a:cubicBezTo>
                    <a:pt x="2654063" y="181951"/>
                    <a:pt x="2059930" y="0"/>
                    <a:pt x="1327031" y="0"/>
                  </a:cubicBezTo>
                  <a:close/>
                </a:path>
              </a:pathLst>
            </a:custGeom>
            <a:solidFill>
              <a:srgbClr val="C6FF4D"/>
            </a:solidFill>
            <a:ln w="38100" cap="sq">
              <a:solidFill>
                <a:srgbClr val="000000"/>
              </a:solidFill>
              <a:prstDash val="solid"/>
              <a:miter/>
            </a:ln>
          </p:spPr>
        </p:sp>
        <p:sp>
          <p:nvSpPr>
            <p:cNvPr name="TextBox 7" id="7"/>
            <p:cNvSpPr txBox="true"/>
            <p:nvPr/>
          </p:nvSpPr>
          <p:spPr>
            <a:xfrm>
              <a:off x="248818" y="9525"/>
              <a:ext cx="2156426" cy="727075"/>
            </a:xfrm>
            <a:prstGeom prst="rect">
              <a:avLst/>
            </a:prstGeom>
          </p:spPr>
          <p:txBody>
            <a:bodyPr anchor="ctr" rtlCol="false" tIns="50800" lIns="50800" bIns="50800" rIns="50800"/>
            <a:lstStyle/>
            <a:p>
              <a:pPr algn="ctr">
                <a:lnSpc>
                  <a:spcPts val="4899"/>
                </a:lnSpc>
              </a:pPr>
              <a:r>
                <a:rPr lang="en-US" b="true" sz="3499">
                  <a:solidFill>
                    <a:srgbClr val="000000"/>
                  </a:solidFill>
                  <a:latin typeface="Neue Machina Ultra-Bold"/>
                  <a:ea typeface="Neue Machina Ultra-Bold"/>
                  <a:cs typeface="Neue Machina Ultra-Bold"/>
                  <a:sym typeface="Neue Machina Ultra-Bold"/>
                </a:rPr>
                <a:t>Value</a:t>
              </a:r>
            </a:p>
          </p:txBody>
        </p:sp>
      </p:grpSp>
      <p:sp>
        <p:nvSpPr>
          <p:cNvPr name="Freeform 8" id="8"/>
          <p:cNvSpPr/>
          <p:nvPr/>
        </p:nvSpPr>
        <p:spPr>
          <a:xfrm flipH="false" flipV="false" rot="0">
            <a:off x="1343071" y="2094882"/>
            <a:ext cx="6192635" cy="4680871"/>
          </a:xfrm>
          <a:custGeom>
            <a:avLst/>
            <a:gdLst/>
            <a:ahLst/>
            <a:cxnLst/>
            <a:rect r="r" b="b" t="t" l="l"/>
            <a:pathLst>
              <a:path h="4680871" w="6192635">
                <a:moveTo>
                  <a:pt x="0" y="0"/>
                </a:moveTo>
                <a:lnTo>
                  <a:pt x="6192635" y="0"/>
                </a:lnTo>
                <a:lnTo>
                  <a:pt x="6192635" y="4680871"/>
                </a:lnTo>
                <a:lnTo>
                  <a:pt x="0" y="4680871"/>
                </a:lnTo>
                <a:lnTo>
                  <a:pt x="0" y="0"/>
                </a:lnTo>
                <a:close/>
              </a:path>
            </a:pathLst>
          </a:custGeom>
          <a:blipFill>
            <a:blip r:embed="rId2"/>
            <a:stretch>
              <a:fillRect l="0" t="0" r="0" b="0"/>
            </a:stretch>
          </a:blipFill>
        </p:spPr>
      </p:sp>
      <p:sp>
        <p:nvSpPr>
          <p:cNvPr name="Freeform 9" id="9"/>
          <p:cNvSpPr/>
          <p:nvPr/>
        </p:nvSpPr>
        <p:spPr>
          <a:xfrm flipH="false" flipV="false" rot="0">
            <a:off x="11556304" y="5183791"/>
            <a:ext cx="5702996" cy="3082505"/>
          </a:xfrm>
          <a:custGeom>
            <a:avLst/>
            <a:gdLst/>
            <a:ahLst/>
            <a:cxnLst/>
            <a:rect r="r" b="b" t="t" l="l"/>
            <a:pathLst>
              <a:path h="3082505" w="5702996">
                <a:moveTo>
                  <a:pt x="0" y="0"/>
                </a:moveTo>
                <a:lnTo>
                  <a:pt x="5702996" y="0"/>
                </a:lnTo>
                <a:lnTo>
                  <a:pt x="5702996" y="3082505"/>
                </a:lnTo>
                <a:lnTo>
                  <a:pt x="0" y="3082505"/>
                </a:lnTo>
                <a:lnTo>
                  <a:pt x="0" y="0"/>
                </a:lnTo>
                <a:close/>
              </a:path>
            </a:pathLst>
          </a:custGeom>
          <a:blipFill>
            <a:blip r:embed="rId3"/>
            <a:stretch>
              <a:fillRect l="0" t="0" r="0" b="0"/>
            </a:stretch>
          </a:blipFill>
        </p:spPr>
      </p:sp>
      <p:sp>
        <p:nvSpPr>
          <p:cNvPr name="Freeform 10" id="10"/>
          <p:cNvSpPr/>
          <p:nvPr/>
        </p:nvSpPr>
        <p:spPr>
          <a:xfrm flipH="false" flipV="false" rot="0">
            <a:off x="7970992" y="2187004"/>
            <a:ext cx="5522887" cy="2985155"/>
          </a:xfrm>
          <a:custGeom>
            <a:avLst/>
            <a:gdLst/>
            <a:ahLst/>
            <a:cxnLst/>
            <a:rect r="r" b="b" t="t" l="l"/>
            <a:pathLst>
              <a:path h="2985155" w="5522887">
                <a:moveTo>
                  <a:pt x="0" y="0"/>
                </a:moveTo>
                <a:lnTo>
                  <a:pt x="5522887" y="0"/>
                </a:lnTo>
                <a:lnTo>
                  <a:pt x="5522887" y="2985155"/>
                </a:lnTo>
                <a:lnTo>
                  <a:pt x="0" y="2985155"/>
                </a:lnTo>
                <a:lnTo>
                  <a:pt x="0" y="0"/>
                </a:lnTo>
                <a:close/>
              </a:path>
            </a:pathLst>
          </a:custGeom>
          <a:blipFill>
            <a:blip r:embed="rId4"/>
            <a:stretch>
              <a:fillRect l="0" t="0" r="0" b="0"/>
            </a:stretch>
          </a:blipFill>
        </p:spPr>
      </p:sp>
      <p:sp>
        <p:nvSpPr>
          <p:cNvPr name="Freeform 11" id="11"/>
          <p:cNvSpPr/>
          <p:nvPr/>
        </p:nvSpPr>
        <p:spPr>
          <a:xfrm flipH="false" flipV="false" rot="0">
            <a:off x="5427507" y="6725044"/>
            <a:ext cx="5927437" cy="3203817"/>
          </a:xfrm>
          <a:custGeom>
            <a:avLst/>
            <a:gdLst/>
            <a:ahLst/>
            <a:cxnLst/>
            <a:rect r="r" b="b" t="t" l="l"/>
            <a:pathLst>
              <a:path h="3203817" w="5927437">
                <a:moveTo>
                  <a:pt x="0" y="0"/>
                </a:moveTo>
                <a:lnTo>
                  <a:pt x="5927436" y="0"/>
                </a:lnTo>
                <a:lnTo>
                  <a:pt x="5927436" y="3203817"/>
                </a:lnTo>
                <a:lnTo>
                  <a:pt x="0" y="3203817"/>
                </a:lnTo>
                <a:lnTo>
                  <a:pt x="0" y="0"/>
                </a:lnTo>
                <a:close/>
              </a:path>
            </a:pathLst>
          </a:custGeom>
          <a:blipFill>
            <a:blip r:embed="rId5"/>
            <a:stretch>
              <a:fillRect l="0" t="0" r="0" b="0"/>
            </a:stretch>
          </a:blipFill>
        </p:spPr>
      </p:sp>
      <p:sp>
        <p:nvSpPr>
          <p:cNvPr name="TextBox 12" id="12"/>
          <p:cNvSpPr txBox="true"/>
          <p:nvPr/>
        </p:nvSpPr>
        <p:spPr>
          <a:xfrm rot="0">
            <a:off x="4555628" y="655033"/>
            <a:ext cx="12703672" cy="1162249"/>
          </a:xfrm>
          <a:prstGeom prst="rect">
            <a:avLst/>
          </a:prstGeom>
        </p:spPr>
        <p:txBody>
          <a:bodyPr anchor="t" rtlCol="false" tIns="0" lIns="0" bIns="0" rIns="0">
            <a:spAutoFit/>
          </a:bodyPr>
          <a:lstStyle/>
          <a:p>
            <a:pPr algn="just">
              <a:lnSpc>
                <a:spcPts val="3139"/>
              </a:lnSpc>
            </a:pPr>
            <a:r>
              <a:rPr lang="en-US" sz="2242">
                <a:solidFill>
                  <a:srgbClr val="000000"/>
                </a:solidFill>
                <a:latin typeface="Raleway"/>
                <a:ea typeface="Raleway"/>
                <a:cs typeface="Raleway"/>
                <a:sym typeface="Raleway"/>
              </a:rPr>
              <a:t>Dari ribuan ulasan dan artikel, pengguna dapat memahami opini publik terhadap aplikasi atau topik tertentu, sehingga data menjadi bermanfaat untuk pengambilan keputusan atau strategi dari dataset ini pengklasifikasian review </a:t>
            </a:r>
            <a:r>
              <a:rPr lang="en-US" b="true" sz="2242">
                <a:solidFill>
                  <a:srgbClr val="000000"/>
                </a:solidFill>
                <a:latin typeface="Raleway Bold"/>
                <a:ea typeface="Raleway Bold"/>
                <a:cs typeface="Raleway Bold"/>
                <a:sym typeface="Raleway Bold"/>
              </a:rPr>
              <a:t>positif/negatif./netral</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797199" y="274106"/>
            <a:ext cx="16932558" cy="9796107"/>
            <a:chOff x="0" y="0"/>
            <a:chExt cx="4773573" cy="2761687"/>
          </a:xfrm>
        </p:grpSpPr>
        <p:sp>
          <p:nvSpPr>
            <p:cNvPr name="Freeform 3" id="3"/>
            <p:cNvSpPr/>
            <p:nvPr/>
          </p:nvSpPr>
          <p:spPr>
            <a:xfrm flipH="false" flipV="false" rot="0">
              <a:off x="0" y="0"/>
              <a:ext cx="4773573" cy="2761687"/>
            </a:xfrm>
            <a:custGeom>
              <a:avLst/>
              <a:gdLst/>
              <a:ahLst/>
              <a:cxnLst/>
              <a:rect r="r" b="b" t="t" l="l"/>
              <a:pathLst>
                <a:path h="2761687" w="4773573">
                  <a:moveTo>
                    <a:pt x="25604" y="0"/>
                  </a:moveTo>
                  <a:lnTo>
                    <a:pt x="4747968" y="0"/>
                  </a:lnTo>
                  <a:cubicBezTo>
                    <a:pt x="4762109" y="0"/>
                    <a:pt x="4773573" y="11463"/>
                    <a:pt x="4773573" y="25604"/>
                  </a:cubicBezTo>
                  <a:lnTo>
                    <a:pt x="4773573" y="2736083"/>
                  </a:lnTo>
                  <a:cubicBezTo>
                    <a:pt x="4773573" y="2742874"/>
                    <a:pt x="4770875" y="2749386"/>
                    <a:pt x="4766073" y="2754188"/>
                  </a:cubicBezTo>
                  <a:cubicBezTo>
                    <a:pt x="4761271" y="2758990"/>
                    <a:pt x="4754759" y="2761687"/>
                    <a:pt x="4747968" y="2761687"/>
                  </a:cubicBezTo>
                  <a:lnTo>
                    <a:pt x="25604" y="2761687"/>
                  </a:lnTo>
                  <a:cubicBezTo>
                    <a:pt x="11463" y="2761687"/>
                    <a:pt x="0" y="2750224"/>
                    <a:pt x="0" y="2736083"/>
                  </a:cubicBezTo>
                  <a:lnTo>
                    <a:pt x="0" y="25604"/>
                  </a:lnTo>
                  <a:cubicBezTo>
                    <a:pt x="0" y="11463"/>
                    <a:pt x="11463" y="0"/>
                    <a:pt x="25604" y="0"/>
                  </a:cubicBezTo>
                  <a:close/>
                </a:path>
              </a:pathLst>
            </a:custGeom>
            <a:solidFill>
              <a:srgbClr val="FAFAFA"/>
            </a:solidFill>
            <a:ln w="38100" cap="rnd">
              <a:solidFill>
                <a:srgbClr val="000000"/>
              </a:solidFill>
              <a:prstDash val="solid"/>
              <a:round/>
            </a:ln>
          </p:spPr>
        </p:sp>
        <p:sp>
          <p:nvSpPr>
            <p:cNvPr name="TextBox 4" id="4"/>
            <p:cNvSpPr txBox="true"/>
            <p:nvPr/>
          </p:nvSpPr>
          <p:spPr>
            <a:xfrm>
              <a:off x="0" y="-47625"/>
              <a:ext cx="4773573" cy="280931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0" y="0"/>
            <a:ext cx="4439388" cy="1190678"/>
            <a:chOff x="0" y="0"/>
            <a:chExt cx="3030486" cy="812800"/>
          </a:xfrm>
        </p:grpSpPr>
        <p:sp>
          <p:nvSpPr>
            <p:cNvPr name="Freeform 6" id="6"/>
            <p:cNvSpPr/>
            <p:nvPr/>
          </p:nvSpPr>
          <p:spPr>
            <a:xfrm flipH="false" flipV="false" rot="0">
              <a:off x="0" y="0"/>
              <a:ext cx="3030486" cy="812800"/>
            </a:xfrm>
            <a:custGeom>
              <a:avLst/>
              <a:gdLst/>
              <a:ahLst/>
              <a:cxnLst/>
              <a:rect r="r" b="b" t="t" l="l"/>
              <a:pathLst>
                <a:path h="812800" w="3030486">
                  <a:moveTo>
                    <a:pt x="1515243" y="0"/>
                  </a:moveTo>
                  <a:cubicBezTo>
                    <a:pt x="678397" y="0"/>
                    <a:pt x="0" y="181951"/>
                    <a:pt x="0" y="406400"/>
                  </a:cubicBezTo>
                  <a:cubicBezTo>
                    <a:pt x="0" y="630849"/>
                    <a:pt x="678397" y="812800"/>
                    <a:pt x="1515243" y="812800"/>
                  </a:cubicBezTo>
                  <a:cubicBezTo>
                    <a:pt x="2352089" y="812800"/>
                    <a:pt x="3030486" y="630849"/>
                    <a:pt x="3030486" y="406400"/>
                  </a:cubicBezTo>
                  <a:cubicBezTo>
                    <a:pt x="3030486" y="181951"/>
                    <a:pt x="2352089" y="0"/>
                    <a:pt x="1515243" y="0"/>
                  </a:cubicBezTo>
                  <a:close/>
                </a:path>
              </a:pathLst>
            </a:custGeom>
            <a:solidFill>
              <a:srgbClr val="C6FF4D"/>
            </a:solidFill>
            <a:ln w="38100" cap="sq">
              <a:solidFill>
                <a:srgbClr val="000000"/>
              </a:solidFill>
              <a:prstDash val="solid"/>
              <a:miter/>
            </a:ln>
          </p:spPr>
        </p:sp>
        <p:sp>
          <p:nvSpPr>
            <p:cNvPr name="TextBox 7" id="7"/>
            <p:cNvSpPr txBox="true"/>
            <p:nvPr/>
          </p:nvSpPr>
          <p:spPr>
            <a:xfrm>
              <a:off x="284108" y="9525"/>
              <a:ext cx="2462270" cy="727075"/>
            </a:xfrm>
            <a:prstGeom prst="rect">
              <a:avLst/>
            </a:prstGeom>
          </p:spPr>
          <p:txBody>
            <a:bodyPr anchor="ctr" rtlCol="false" tIns="50800" lIns="50800" bIns="50800" rIns="50800"/>
            <a:lstStyle/>
            <a:p>
              <a:pPr algn="ctr">
                <a:lnSpc>
                  <a:spcPts val="4899"/>
                </a:lnSpc>
              </a:pPr>
              <a:r>
                <a:rPr lang="en-US" b="true" sz="3499">
                  <a:solidFill>
                    <a:srgbClr val="000000"/>
                  </a:solidFill>
                  <a:latin typeface="Neue Machina Ultra-Bold"/>
                  <a:ea typeface="Neue Machina Ultra-Bold"/>
                  <a:cs typeface="Neue Machina Ultra-Bold"/>
                  <a:sym typeface="Neue Machina Ultra-Bold"/>
                </a:rPr>
                <a:t>Perbandingan</a:t>
              </a:r>
            </a:p>
          </p:txBody>
        </p:sp>
      </p:grpSp>
      <p:sp>
        <p:nvSpPr>
          <p:cNvPr name="Freeform 8" id="8"/>
          <p:cNvSpPr/>
          <p:nvPr/>
        </p:nvSpPr>
        <p:spPr>
          <a:xfrm flipH="false" flipV="false" rot="0">
            <a:off x="1731460" y="2438261"/>
            <a:ext cx="9157884" cy="4384337"/>
          </a:xfrm>
          <a:custGeom>
            <a:avLst/>
            <a:gdLst/>
            <a:ahLst/>
            <a:cxnLst/>
            <a:rect r="r" b="b" t="t" l="l"/>
            <a:pathLst>
              <a:path h="4384337" w="9157884">
                <a:moveTo>
                  <a:pt x="0" y="0"/>
                </a:moveTo>
                <a:lnTo>
                  <a:pt x="9157884" y="0"/>
                </a:lnTo>
                <a:lnTo>
                  <a:pt x="9157884" y="4384337"/>
                </a:lnTo>
                <a:lnTo>
                  <a:pt x="0" y="4384337"/>
                </a:lnTo>
                <a:lnTo>
                  <a:pt x="0" y="0"/>
                </a:lnTo>
                <a:close/>
              </a:path>
            </a:pathLst>
          </a:custGeom>
          <a:blipFill>
            <a:blip r:embed="rId2"/>
            <a:stretch>
              <a:fillRect l="0" t="0" r="0" b="0"/>
            </a:stretch>
          </a:blipFill>
        </p:spPr>
      </p:sp>
      <p:graphicFrame>
        <p:nvGraphicFramePr>
          <p:cNvPr name="Object 9" id="9"/>
          <p:cNvGraphicFramePr/>
          <p:nvPr/>
        </p:nvGraphicFramePr>
        <p:xfrm>
          <a:off x="11429281" y="1190678"/>
          <a:ext cx="5290457" cy="8229600"/>
        </p:xfrm>
        <a:graphic>
          <a:graphicData uri="http://schemas.openxmlformats.org/presentationml/2006/ole">
            <p:oleObj imgW="6934200" imgH="98679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797199" y="274106"/>
            <a:ext cx="16932558" cy="9796107"/>
            <a:chOff x="0" y="0"/>
            <a:chExt cx="4773573" cy="2761687"/>
          </a:xfrm>
        </p:grpSpPr>
        <p:sp>
          <p:nvSpPr>
            <p:cNvPr name="Freeform 3" id="3"/>
            <p:cNvSpPr/>
            <p:nvPr/>
          </p:nvSpPr>
          <p:spPr>
            <a:xfrm flipH="false" flipV="false" rot="0">
              <a:off x="0" y="0"/>
              <a:ext cx="4773573" cy="2761687"/>
            </a:xfrm>
            <a:custGeom>
              <a:avLst/>
              <a:gdLst/>
              <a:ahLst/>
              <a:cxnLst/>
              <a:rect r="r" b="b" t="t" l="l"/>
              <a:pathLst>
                <a:path h="2761687" w="4773573">
                  <a:moveTo>
                    <a:pt x="25604" y="0"/>
                  </a:moveTo>
                  <a:lnTo>
                    <a:pt x="4747968" y="0"/>
                  </a:lnTo>
                  <a:cubicBezTo>
                    <a:pt x="4762109" y="0"/>
                    <a:pt x="4773573" y="11463"/>
                    <a:pt x="4773573" y="25604"/>
                  </a:cubicBezTo>
                  <a:lnTo>
                    <a:pt x="4773573" y="2736083"/>
                  </a:lnTo>
                  <a:cubicBezTo>
                    <a:pt x="4773573" y="2742874"/>
                    <a:pt x="4770875" y="2749386"/>
                    <a:pt x="4766073" y="2754188"/>
                  </a:cubicBezTo>
                  <a:cubicBezTo>
                    <a:pt x="4761271" y="2758990"/>
                    <a:pt x="4754759" y="2761687"/>
                    <a:pt x="4747968" y="2761687"/>
                  </a:cubicBezTo>
                  <a:lnTo>
                    <a:pt x="25604" y="2761687"/>
                  </a:lnTo>
                  <a:cubicBezTo>
                    <a:pt x="11463" y="2761687"/>
                    <a:pt x="0" y="2750224"/>
                    <a:pt x="0" y="2736083"/>
                  </a:cubicBezTo>
                  <a:lnTo>
                    <a:pt x="0" y="25604"/>
                  </a:lnTo>
                  <a:cubicBezTo>
                    <a:pt x="0" y="11463"/>
                    <a:pt x="11463" y="0"/>
                    <a:pt x="25604" y="0"/>
                  </a:cubicBezTo>
                  <a:close/>
                </a:path>
              </a:pathLst>
            </a:custGeom>
            <a:solidFill>
              <a:srgbClr val="FAFAFA"/>
            </a:solidFill>
            <a:ln w="38100" cap="rnd">
              <a:solidFill>
                <a:srgbClr val="000000"/>
              </a:solidFill>
              <a:prstDash val="solid"/>
              <a:round/>
            </a:ln>
          </p:spPr>
        </p:sp>
        <p:sp>
          <p:nvSpPr>
            <p:cNvPr name="TextBox 4" id="4"/>
            <p:cNvSpPr txBox="true"/>
            <p:nvPr/>
          </p:nvSpPr>
          <p:spPr>
            <a:xfrm>
              <a:off x="0" y="-47625"/>
              <a:ext cx="4773573" cy="280931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0" y="0"/>
            <a:ext cx="4439388" cy="1190678"/>
            <a:chOff x="0" y="0"/>
            <a:chExt cx="3030486" cy="812800"/>
          </a:xfrm>
        </p:grpSpPr>
        <p:sp>
          <p:nvSpPr>
            <p:cNvPr name="Freeform 6" id="6"/>
            <p:cNvSpPr/>
            <p:nvPr/>
          </p:nvSpPr>
          <p:spPr>
            <a:xfrm flipH="false" flipV="false" rot="0">
              <a:off x="0" y="0"/>
              <a:ext cx="3030486" cy="812800"/>
            </a:xfrm>
            <a:custGeom>
              <a:avLst/>
              <a:gdLst/>
              <a:ahLst/>
              <a:cxnLst/>
              <a:rect r="r" b="b" t="t" l="l"/>
              <a:pathLst>
                <a:path h="812800" w="3030486">
                  <a:moveTo>
                    <a:pt x="1515243" y="0"/>
                  </a:moveTo>
                  <a:cubicBezTo>
                    <a:pt x="678397" y="0"/>
                    <a:pt x="0" y="181951"/>
                    <a:pt x="0" y="406400"/>
                  </a:cubicBezTo>
                  <a:cubicBezTo>
                    <a:pt x="0" y="630849"/>
                    <a:pt x="678397" y="812800"/>
                    <a:pt x="1515243" y="812800"/>
                  </a:cubicBezTo>
                  <a:cubicBezTo>
                    <a:pt x="2352089" y="812800"/>
                    <a:pt x="3030486" y="630849"/>
                    <a:pt x="3030486" y="406400"/>
                  </a:cubicBezTo>
                  <a:cubicBezTo>
                    <a:pt x="3030486" y="181951"/>
                    <a:pt x="2352089" y="0"/>
                    <a:pt x="1515243" y="0"/>
                  </a:cubicBezTo>
                  <a:close/>
                </a:path>
              </a:pathLst>
            </a:custGeom>
            <a:solidFill>
              <a:srgbClr val="C6FF4D"/>
            </a:solidFill>
            <a:ln w="38100" cap="sq">
              <a:solidFill>
                <a:srgbClr val="000000"/>
              </a:solidFill>
              <a:prstDash val="solid"/>
              <a:miter/>
            </a:ln>
          </p:spPr>
        </p:sp>
        <p:sp>
          <p:nvSpPr>
            <p:cNvPr name="TextBox 7" id="7"/>
            <p:cNvSpPr txBox="true"/>
            <p:nvPr/>
          </p:nvSpPr>
          <p:spPr>
            <a:xfrm>
              <a:off x="284108" y="9525"/>
              <a:ext cx="2462270" cy="727075"/>
            </a:xfrm>
            <a:prstGeom prst="rect">
              <a:avLst/>
            </a:prstGeom>
          </p:spPr>
          <p:txBody>
            <a:bodyPr anchor="ctr" rtlCol="false" tIns="50800" lIns="50800" bIns="50800" rIns="50800"/>
            <a:lstStyle/>
            <a:p>
              <a:pPr algn="ctr">
                <a:lnSpc>
                  <a:spcPts val="4899"/>
                </a:lnSpc>
              </a:pPr>
              <a:r>
                <a:rPr lang="en-US" b="true" sz="3499">
                  <a:solidFill>
                    <a:srgbClr val="000000"/>
                  </a:solidFill>
                  <a:latin typeface="Neue Machina Ultra-Bold"/>
                  <a:ea typeface="Neue Machina Ultra-Bold"/>
                  <a:cs typeface="Neue Machina Ultra-Bold"/>
                  <a:sym typeface="Neue Machina Ultra-Bold"/>
                </a:rPr>
                <a:t>Perbandingan</a:t>
              </a:r>
            </a:p>
          </p:txBody>
        </p:sp>
      </p:grpSp>
      <p:sp>
        <p:nvSpPr>
          <p:cNvPr name="Freeform 8" id="8"/>
          <p:cNvSpPr/>
          <p:nvPr/>
        </p:nvSpPr>
        <p:spPr>
          <a:xfrm flipH="false" flipV="false" rot="0">
            <a:off x="1065526" y="2761116"/>
            <a:ext cx="8078474" cy="5725179"/>
          </a:xfrm>
          <a:custGeom>
            <a:avLst/>
            <a:gdLst/>
            <a:ahLst/>
            <a:cxnLst/>
            <a:rect r="r" b="b" t="t" l="l"/>
            <a:pathLst>
              <a:path h="5725179" w="8078474">
                <a:moveTo>
                  <a:pt x="0" y="0"/>
                </a:moveTo>
                <a:lnTo>
                  <a:pt x="8078474" y="0"/>
                </a:lnTo>
                <a:lnTo>
                  <a:pt x="8078474" y="5725180"/>
                </a:lnTo>
                <a:lnTo>
                  <a:pt x="0" y="5725180"/>
                </a:lnTo>
                <a:lnTo>
                  <a:pt x="0" y="0"/>
                </a:lnTo>
                <a:close/>
              </a:path>
            </a:pathLst>
          </a:custGeom>
          <a:blipFill>
            <a:blip r:embed="rId2"/>
            <a:stretch>
              <a:fillRect l="0" t="0" r="0" b="0"/>
            </a:stretch>
          </a:blipFill>
        </p:spPr>
      </p:sp>
      <p:sp>
        <p:nvSpPr>
          <p:cNvPr name="Freeform 9" id="9"/>
          <p:cNvSpPr/>
          <p:nvPr/>
        </p:nvSpPr>
        <p:spPr>
          <a:xfrm flipH="false" flipV="false" rot="0">
            <a:off x="9263478" y="2761116"/>
            <a:ext cx="8078474" cy="5725179"/>
          </a:xfrm>
          <a:custGeom>
            <a:avLst/>
            <a:gdLst/>
            <a:ahLst/>
            <a:cxnLst/>
            <a:rect r="r" b="b" t="t" l="l"/>
            <a:pathLst>
              <a:path h="5725179" w="8078474">
                <a:moveTo>
                  <a:pt x="0" y="0"/>
                </a:moveTo>
                <a:lnTo>
                  <a:pt x="8078474" y="0"/>
                </a:lnTo>
                <a:lnTo>
                  <a:pt x="8078474" y="5725180"/>
                </a:lnTo>
                <a:lnTo>
                  <a:pt x="0" y="5725180"/>
                </a:lnTo>
                <a:lnTo>
                  <a:pt x="0" y="0"/>
                </a:lnTo>
                <a:close/>
              </a:path>
            </a:pathLst>
          </a:custGeom>
          <a:blipFill>
            <a:blip r:embed="rId3"/>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510073" y="1449505"/>
            <a:ext cx="8633927" cy="2178250"/>
            <a:chOff x="0" y="0"/>
            <a:chExt cx="2273956" cy="573695"/>
          </a:xfrm>
        </p:grpSpPr>
        <p:sp>
          <p:nvSpPr>
            <p:cNvPr name="Freeform 3" id="3"/>
            <p:cNvSpPr/>
            <p:nvPr/>
          </p:nvSpPr>
          <p:spPr>
            <a:xfrm flipH="false" flipV="false" rot="0">
              <a:off x="0" y="0"/>
              <a:ext cx="2273956" cy="573695"/>
            </a:xfrm>
            <a:custGeom>
              <a:avLst/>
              <a:gdLst/>
              <a:ahLst/>
              <a:cxnLst/>
              <a:rect r="r" b="b" t="t" l="l"/>
              <a:pathLst>
                <a:path h="573695" w="2273956">
                  <a:moveTo>
                    <a:pt x="43938" y="0"/>
                  </a:moveTo>
                  <a:lnTo>
                    <a:pt x="2230018" y="0"/>
                  </a:lnTo>
                  <a:cubicBezTo>
                    <a:pt x="2254284" y="0"/>
                    <a:pt x="2273956" y="19672"/>
                    <a:pt x="2273956" y="43938"/>
                  </a:cubicBezTo>
                  <a:lnTo>
                    <a:pt x="2273956" y="529758"/>
                  </a:lnTo>
                  <a:cubicBezTo>
                    <a:pt x="2273956" y="541411"/>
                    <a:pt x="2269327" y="552587"/>
                    <a:pt x="2261087" y="560826"/>
                  </a:cubicBezTo>
                  <a:cubicBezTo>
                    <a:pt x="2252847" y="569066"/>
                    <a:pt x="2241671" y="573695"/>
                    <a:pt x="2230018" y="573695"/>
                  </a:cubicBezTo>
                  <a:lnTo>
                    <a:pt x="43938" y="573695"/>
                  </a:lnTo>
                  <a:cubicBezTo>
                    <a:pt x="19672" y="573695"/>
                    <a:pt x="0" y="554024"/>
                    <a:pt x="0" y="529758"/>
                  </a:cubicBezTo>
                  <a:lnTo>
                    <a:pt x="0" y="43938"/>
                  </a:lnTo>
                  <a:cubicBezTo>
                    <a:pt x="0" y="32285"/>
                    <a:pt x="4629" y="21109"/>
                    <a:pt x="12869" y="12869"/>
                  </a:cubicBezTo>
                  <a:cubicBezTo>
                    <a:pt x="21109" y="4629"/>
                    <a:pt x="32285" y="0"/>
                    <a:pt x="43938" y="0"/>
                  </a:cubicBezTo>
                  <a:close/>
                </a:path>
              </a:pathLst>
            </a:custGeom>
            <a:solidFill>
              <a:srgbClr val="C6FF4D"/>
            </a:solidFill>
            <a:ln w="38100" cap="rnd">
              <a:solidFill>
                <a:srgbClr val="000000"/>
              </a:solidFill>
              <a:prstDash val="solid"/>
              <a:round/>
            </a:ln>
          </p:spPr>
        </p:sp>
        <p:sp>
          <p:nvSpPr>
            <p:cNvPr name="TextBox 4" id="4"/>
            <p:cNvSpPr txBox="true"/>
            <p:nvPr/>
          </p:nvSpPr>
          <p:spPr>
            <a:xfrm>
              <a:off x="0" y="-47625"/>
              <a:ext cx="2273956" cy="621320"/>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651368" y="1710487"/>
            <a:ext cx="8351338" cy="1599136"/>
          </a:xfrm>
          <a:prstGeom prst="rect">
            <a:avLst/>
          </a:prstGeom>
        </p:spPr>
        <p:txBody>
          <a:bodyPr anchor="t" rtlCol="false" tIns="0" lIns="0" bIns="0" rIns="0">
            <a:spAutoFit/>
          </a:bodyPr>
          <a:lstStyle/>
          <a:p>
            <a:pPr algn="l" marL="494815" indent="-247408" lvl="1">
              <a:lnSpc>
                <a:spcPts val="3208"/>
              </a:lnSpc>
              <a:buFont typeface="Arial"/>
              <a:buChar char="•"/>
            </a:pPr>
            <a:r>
              <a:rPr lang="en-US" sz="2291">
                <a:solidFill>
                  <a:srgbClr val="000000"/>
                </a:solidFill>
                <a:latin typeface="Raleway"/>
                <a:ea typeface="Raleway"/>
                <a:cs typeface="Raleway"/>
                <a:sym typeface="Raleway"/>
              </a:rPr>
              <a:t>Detikcom: Semua kolom lengkap, tidak ada missing value.</a:t>
            </a:r>
          </a:p>
          <a:p>
            <a:pPr algn="l" marL="494815" indent="-247408" lvl="1">
              <a:lnSpc>
                <a:spcPts val="3208"/>
              </a:lnSpc>
              <a:buFont typeface="Arial"/>
              <a:buChar char="•"/>
            </a:pPr>
            <a:r>
              <a:rPr lang="en-US" sz="2291">
                <a:solidFill>
                  <a:srgbClr val="000000"/>
                </a:solidFill>
                <a:latin typeface="Raleway"/>
                <a:ea typeface="Raleway"/>
                <a:cs typeface="Raleway"/>
                <a:sym typeface="Raleway"/>
              </a:rPr>
              <a:t>CNN Indonesia: Ada 1 missing value di Review Text.</a:t>
            </a:r>
          </a:p>
          <a:p>
            <a:pPr algn="just">
              <a:lnSpc>
                <a:spcPts val="3208"/>
              </a:lnSpc>
            </a:pPr>
            <a:r>
              <a:rPr lang="en-US" b="true" sz="2291">
                <a:solidFill>
                  <a:srgbClr val="000000"/>
                </a:solidFill>
                <a:latin typeface="Raleway Bold"/>
                <a:ea typeface="Raleway Bold"/>
                <a:cs typeface="Raleway Bold"/>
                <a:sym typeface="Raleway Bold"/>
              </a:rPr>
              <a:t>Tidak ada kolom duplikat, tetapi perlu diperiksa duplikasi Review ID.</a:t>
            </a:r>
          </a:p>
        </p:txBody>
      </p:sp>
      <p:sp>
        <p:nvSpPr>
          <p:cNvPr name="TextBox 6" id="6"/>
          <p:cNvSpPr txBox="true"/>
          <p:nvPr/>
        </p:nvSpPr>
        <p:spPr>
          <a:xfrm rot="0">
            <a:off x="510073" y="542925"/>
            <a:ext cx="9055627" cy="763042"/>
          </a:xfrm>
          <a:prstGeom prst="rect">
            <a:avLst/>
          </a:prstGeom>
        </p:spPr>
        <p:txBody>
          <a:bodyPr anchor="t" rtlCol="false" tIns="0" lIns="0" bIns="0" rIns="0">
            <a:spAutoFit/>
          </a:bodyPr>
          <a:lstStyle/>
          <a:p>
            <a:pPr algn="l">
              <a:lnSpc>
                <a:spcPts val="5740"/>
              </a:lnSpc>
            </a:pPr>
            <a:r>
              <a:rPr lang="en-US" b="true" sz="5415">
                <a:solidFill>
                  <a:srgbClr val="000000"/>
                </a:solidFill>
                <a:latin typeface="Neue Machina Ultra-Bold"/>
                <a:ea typeface="Neue Machina Ultra-Bold"/>
                <a:cs typeface="Neue Machina Ultra-Bold"/>
                <a:sym typeface="Neue Machina Ultra-Bold"/>
              </a:rPr>
              <a:t>ANALISIS/INSIGHT</a:t>
            </a:r>
          </a:p>
        </p:txBody>
      </p:sp>
      <p:grpSp>
        <p:nvGrpSpPr>
          <p:cNvPr name="Group 7" id="7"/>
          <p:cNvGrpSpPr/>
          <p:nvPr/>
        </p:nvGrpSpPr>
        <p:grpSpPr>
          <a:xfrm rot="0">
            <a:off x="303558" y="3770630"/>
            <a:ext cx="8840442" cy="6449695"/>
            <a:chOff x="0" y="0"/>
            <a:chExt cx="2328347" cy="1698685"/>
          </a:xfrm>
        </p:grpSpPr>
        <p:sp>
          <p:nvSpPr>
            <p:cNvPr name="Freeform 8" id="8"/>
            <p:cNvSpPr/>
            <p:nvPr/>
          </p:nvSpPr>
          <p:spPr>
            <a:xfrm flipH="false" flipV="false" rot="0">
              <a:off x="0" y="0"/>
              <a:ext cx="2328347" cy="1698685"/>
            </a:xfrm>
            <a:custGeom>
              <a:avLst/>
              <a:gdLst/>
              <a:ahLst/>
              <a:cxnLst/>
              <a:rect r="r" b="b" t="t" l="l"/>
              <a:pathLst>
                <a:path h="1698685" w="2328347">
                  <a:moveTo>
                    <a:pt x="42911" y="0"/>
                  </a:moveTo>
                  <a:lnTo>
                    <a:pt x="2285436" y="0"/>
                  </a:lnTo>
                  <a:cubicBezTo>
                    <a:pt x="2309135" y="0"/>
                    <a:pt x="2328347" y="19212"/>
                    <a:pt x="2328347" y="42911"/>
                  </a:cubicBezTo>
                  <a:lnTo>
                    <a:pt x="2328347" y="1655774"/>
                  </a:lnTo>
                  <a:cubicBezTo>
                    <a:pt x="2328347" y="1679473"/>
                    <a:pt x="2309135" y="1698685"/>
                    <a:pt x="2285436" y="1698685"/>
                  </a:cubicBezTo>
                  <a:lnTo>
                    <a:pt x="42911" y="1698685"/>
                  </a:lnTo>
                  <a:cubicBezTo>
                    <a:pt x="31530" y="1698685"/>
                    <a:pt x="20616" y="1694164"/>
                    <a:pt x="12568" y="1686117"/>
                  </a:cubicBezTo>
                  <a:cubicBezTo>
                    <a:pt x="4521" y="1678069"/>
                    <a:pt x="0" y="1667155"/>
                    <a:pt x="0" y="1655774"/>
                  </a:cubicBezTo>
                  <a:lnTo>
                    <a:pt x="0" y="42911"/>
                  </a:lnTo>
                  <a:cubicBezTo>
                    <a:pt x="0" y="31530"/>
                    <a:pt x="4521" y="20616"/>
                    <a:pt x="12568" y="12568"/>
                  </a:cubicBezTo>
                  <a:cubicBezTo>
                    <a:pt x="20616" y="4521"/>
                    <a:pt x="31530" y="0"/>
                    <a:pt x="42911" y="0"/>
                  </a:cubicBezTo>
                  <a:close/>
                </a:path>
              </a:pathLst>
            </a:custGeom>
            <a:solidFill>
              <a:srgbClr val="C6FF4D"/>
            </a:solidFill>
            <a:ln w="38100" cap="rnd">
              <a:solidFill>
                <a:srgbClr val="000000"/>
              </a:solidFill>
              <a:prstDash val="solid"/>
              <a:round/>
            </a:ln>
          </p:spPr>
        </p:sp>
        <p:sp>
          <p:nvSpPr>
            <p:cNvPr name="TextBox 9" id="9"/>
            <p:cNvSpPr txBox="true"/>
            <p:nvPr/>
          </p:nvSpPr>
          <p:spPr>
            <a:xfrm>
              <a:off x="0" y="-47625"/>
              <a:ext cx="2328347" cy="1746310"/>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651368" y="3909545"/>
            <a:ext cx="8351338" cy="6621145"/>
          </a:xfrm>
          <a:prstGeom prst="rect">
            <a:avLst/>
          </a:prstGeom>
        </p:spPr>
        <p:txBody>
          <a:bodyPr anchor="t" rtlCol="false" tIns="0" lIns="0" bIns="0" rIns="0">
            <a:spAutoFit/>
          </a:bodyPr>
          <a:lstStyle/>
          <a:p>
            <a:pPr algn="l">
              <a:lnSpc>
                <a:spcPts val="3079"/>
              </a:lnSpc>
            </a:pPr>
            <a:r>
              <a:rPr lang="en-US" sz="2199">
                <a:solidFill>
                  <a:srgbClr val="000000"/>
                </a:solidFill>
                <a:latin typeface="Neue Machina"/>
                <a:ea typeface="Neue Machina"/>
                <a:cs typeface="Neue Machina"/>
                <a:sym typeface="Neue Machina"/>
              </a:rPr>
              <a:t>Jumlah total review: 10.000 review untuk masing-masing dataset.</a:t>
            </a:r>
          </a:p>
          <a:p>
            <a:pPr algn="l" marL="474979" indent="-237490" lvl="1">
              <a:lnSpc>
                <a:spcPts val="3079"/>
              </a:lnSpc>
              <a:buAutoNum type="arabicPeriod" startAt="1"/>
            </a:pPr>
            <a:r>
              <a:rPr lang="en-US" sz="2199">
                <a:solidFill>
                  <a:srgbClr val="000000"/>
                </a:solidFill>
                <a:latin typeface="Neue Machina"/>
                <a:ea typeface="Neue Machina"/>
                <a:cs typeface="Neue Machina"/>
                <a:sym typeface="Neue Machina"/>
              </a:rPr>
              <a:t>Detikcom:</a:t>
            </a:r>
          </a:p>
          <a:p>
            <a:pPr algn="l" marL="474979" indent="-237490" lvl="1">
              <a:lnSpc>
                <a:spcPts val="3079"/>
              </a:lnSpc>
              <a:buFont typeface="Arial"/>
              <a:buChar char="•"/>
            </a:pPr>
            <a:r>
              <a:rPr lang="en-US" sz="2199">
                <a:solidFill>
                  <a:srgbClr val="000000"/>
                </a:solidFill>
                <a:latin typeface="Neue Machina"/>
                <a:ea typeface="Neue Machina"/>
                <a:cs typeface="Neue Machina"/>
                <a:sym typeface="Neue Machina"/>
              </a:rPr>
              <a:t>Rating 5: 6.378</a:t>
            </a:r>
          </a:p>
          <a:p>
            <a:pPr algn="l" marL="474979" indent="-237490" lvl="1">
              <a:lnSpc>
                <a:spcPts val="3079"/>
              </a:lnSpc>
              <a:buFont typeface="Arial"/>
              <a:buChar char="•"/>
            </a:pPr>
            <a:r>
              <a:rPr lang="en-US" sz="2199">
                <a:solidFill>
                  <a:srgbClr val="000000"/>
                </a:solidFill>
                <a:latin typeface="Neue Machina"/>
                <a:ea typeface="Neue Machina"/>
                <a:cs typeface="Neue Machina"/>
                <a:sym typeface="Neue Machina"/>
              </a:rPr>
              <a:t>Rating 1: 2.007</a:t>
            </a:r>
          </a:p>
          <a:p>
            <a:pPr algn="l" marL="474979" indent="-237490" lvl="1">
              <a:lnSpc>
                <a:spcPts val="3079"/>
              </a:lnSpc>
              <a:buFont typeface="Arial"/>
              <a:buChar char="•"/>
            </a:pPr>
            <a:r>
              <a:rPr lang="en-US" sz="2199">
                <a:solidFill>
                  <a:srgbClr val="000000"/>
                </a:solidFill>
                <a:latin typeface="Neue Machina"/>
                <a:ea typeface="Neue Machina"/>
                <a:cs typeface="Neue Machina"/>
                <a:sym typeface="Neue Machina"/>
              </a:rPr>
              <a:t>Rating 2–4: sisanya (2 &amp; 4: 736, 3: 478, 2: 401)</a:t>
            </a:r>
          </a:p>
          <a:p>
            <a:pPr algn="l">
              <a:lnSpc>
                <a:spcPts val="3079"/>
              </a:lnSpc>
            </a:pPr>
          </a:p>
          <a:p>
            <a:pPr algn="l" marL="474979" indent="-237490" lvl="1">
              <a:lnSpc>
                <a:spcPts val="3079"/>
              </a:lnSpc>
              <a:buAutoNum type="arabicPeriod" startAt="1"/>
            </a:pPr>
            <a:r>
              <a:rPr lang="en-US" sz="2199">
                <a:solidFill>
                  <a:srgbClr val="000000"/>
                </a:solidFill>
                <a:latin typeface="Neue Machina"/>
                <a:ea typeface="Neue Machina"/>
                <a:cs typeface="Neue Machina"/>
                <a:sym typeface="Neue Machina"/>
              </a:rPr>
              <a:t>CNN Indonesia:</a:t>
            </a:r>
          </a:p>
          <a:p>
            <a:pPr algn="l" marL="474979" indent="-237490" lvl="1">
              <a:lnSpc>
                <a:spcPts val="3079"/>
              </a:lnSpc>
              <a:buFont typeface="Arial"/>
              <a:buChar char="•"/>
            </a:pPr>
            <a:r>
              <a:rPr lang="en-US" sz="2199">
                <a:solidFill>
                  <a:srgbClr val="000000"/>
                </a:solidFill>
                <a:latin typeface="Neue Machina"/>
                <a:ea typeface="Neue Machina"/>
                <a:cs typeface="Neue Machina"/>
                <a:sym typeface="Neue Machina"/>
              </a:rPr>
              <a:t>Rating 5: 6.107</a:t>
            </a:r>
          </a:p>
          <a:p>
            <a:pPr algn="l" marL="474979" indent="-237490" lvl="1">
              <a:lnSpc>
                <a:spcPts val="3079"/>
              </a:lnSpc>
              <a:buFont typeface="Arial"/>
              <a:buChar char="•"/>
            </a:pPr>
            <a:r>
              <a:rPr lang="en-US" sz="2199">
                <a:solidFill>
                  <a:srgbClr val="000000"/>
                </a:solidFill>
                <a:latin typeface="Neue Machina"/>
                <a:ea typeface="Neue Machina"/>
                <a:cs typeface="Neue Machina"/>
                <a:sym typeface="Neue Machina"/>
              </a:rPr>
              <a:t>Rating 1: 1.404</a:t>
            </a:r>
          </a:p>
          <a:p>
            <a:pPr algn="l" marL="474979" indent="-237490" lvl="1">
              <a:lnSpc>
                <a:spcPts val="3079"/>
              </a:lnSpc>
              <a:buFont typeface="Arial"/>
              <a:buChar char="•"/>
            </a:pPr>
            <a:r>
              <a:rPr lang="en-US" sz="2199">
                <a:solidFill>
                  <a:srgbClr val="000000"/>
                </a:solidFill>
                <a:latin typeface="Neue Machina"/>
                <a:ea typeface="Neue Machina"/>
                <a:cs typeface="Neue Machina"/>
                <a:sym typeface="Neue Machina"/>
              </a:rPr>
              <a:t>Rating 2–4: sisanya (4: 1.571, 3: 716, 2: 202)</a:t>
            </a:r>
          </a:p>
          <a:p>
            <a:pPr algn="l">
              <a:lnSpc>
                <a:spcPts val="3079"/>
              </a:lnSpc>
            </a:pPr>
          </a:p>
          <a:p>
            <a:pPr algn="l">
              <a:lnSpc>
                <a:spcPts val="3079"/>
              </a:lnSpc>
            </a:pPr>
            <a:r>
              <a:rPr lang="en-US" sz="2199" b="true">
                <a:solidFill>
                  <a:srgbClr val="000000"/>
                </a:solidFill>
                <a:latin typeface="Raleway Bold"/>
                <a:ea typeface="Raleway Bold"/>
                <a:cs typeface="Raleway Bold"/>
                <a:sym typeface="Raleway Bold"/>
              </a:rPr>
              <a:t>Kedua dataset didominasi ulasan positif (rating 5).</a:t>
            </a:r>
          </a:p>
          <a:p>
            <a:pPr algn="l">
              <a:lnSpc>
                <a:spcPts val="3079"/>
              </a:lnSpc>
            </a:pPr>
            <a:r>
              <a:rPr lang="en-US" b="true" sz="2199">
                <a:solidFill>
                  <a:srgbClr val="000000"/>
                </a:solidFill>
                <a:latin typeface="Raleway Bold"/>
                <a:ea typeface="Raleway Bold"/>
                <a:cs typeface="Raleway Bold"/>
                <a:sym typeface="Raleway Bold"/>
              </a:rPr>
              <a:t>CNN Indonesia memiliki distribusi rating lebih merata di tengah (4 dan 3), sementara Detikcom lebih condong ke rating 5 atau 1.</a:t>
            </a:r>
          </a:p>
          <a:p>
            <a:pPr algn="just">
              <a:lnSpc>
                <a:spcPts val="3079"/>
              </a:lnSpc>
            </a:pPr>
          </a:p>
        </p:txBody>
      </p:sp>
      <p:grpSp>
        <p:nvGrpSpPr>
          <p:cNvPr name="Group 11" id="11"/>
          <p:cNvGrpSpPr/>
          <p:nvPr/>
        </p:nvGrpSpPr>
        <p:grpSpPr>
          <a:xfrm rot="0">
            <a:off x="9374802" y="2028334"/>
            <a:ext cx="8633927" cy="3838622"/>
            <a:chOff x="0" y="0"/>
            <a:chExt cx="2273956" cy="1010995"/>
          </a:xfrm>
        </p:grpSpPr>
        <p:sp>
          <p:nvSpPr>
            <p:cNvPr name="Freeform 12" id="12"/>
            <p:cNvSpPr/>
            <p:nvPr/>
          </p:nvSpPr>
          <p:spPr>
            <a:xfrm flipH="false" flipV="false" rot="0">
              <a:off x="0" y="0"/>
              <a:ext cx="2273956" cy="1010995"/>
            </a:xfrm>
            <a:custGeom>
              <a:avLst/>
              <a:gdLst/>
              <a:ahLst/>
              <a:cxnLst/>
              <a:rect r="r" b="b" t="t" l="l"/>
              <a:pathLst>
                <a:path h="1010995" w="2273956">
                  <a:moveTo>
                    <a:pt x="43938" y="0"/>
                  </a:moveTo>
                  <a:lnTo>
                    <a:pt x="2230018" y="0"/>
                  </a:lnTo>
                  <a:cubicBezTo>
                    <a:pt x="2254284" y="0"/>
                    <a:pt x="2273956" y="19672"/>
                    <a:pt x="2273956" y="43938"/>
                  </a:cubicBezTo>
                  <a:lnTo>
                    <a:pt x="2273956" y="967057"/>
                  </a:lnTo>
                  <a:cubicBezTo>
                    <a:pt x="2273956" y="978710"/>
                    <a:pt x="2269327" y="989886"/>
                    <a:pt x="2261087" y="998126"/>
                  </a:cubicBezTo>
                  <a:cubicBezTo>
                    <a:pt x="2252847" y="1006366"/>
                    <a:pt x="2241671" y="1010995"/>
                    <a:pt x="2230018" y="1010995"/>
                  </a:cubicBezTo>
                  <a:lnTo>
                    <a:pt x="43938" y="1010995"/>
                  </a:lnTo>
                  <a:cubicBezTo>
                    <a:pt x="32285" y="1010995"/>
                    <a:pt x="21109" y="1006366"/>
                    <a:pt x="12869" y="998126"/>
                  </a:cubicBezTo>
                  <a:cubicBezTo>
                    <a:pt x="4629" y="989886"/>
                    <a:pt x="0" y="978710"/>
                    <a:pt x="0" y="967057"/>
                  </a:cubicBezTo>
                  <a:lnTo>
                    <a:pt x="0" y="43938"/>
                  </a:lnTo>
                  <a:cubicBezTo>
                    <a:pt x="0" y="32285"/>
                    <a:pt x="4629" y="21109"/>
                    <a:pt x="12869" y="12869"/>
                  </a:cubicBezTo>
                  <a:cubicBezTo>
                    <a:pt x="21109" y="4629"/>
                    <a:pt x="32285" y="0"/>
                    <a:pt x="43938" y="0"/>
                  </a:cubicBezTo>
                  <a:close/>
                </a:path>
              </a:pathLst>
            </a:custGeom>
            <a:solidFill>
              <a:srgbClr val="C6FF4D"/>
            </a:solidFill>
            <a:ln w="38100" cap="rnd">
              <a:solidFill>
                <a:srgbClr val="000000"/>
              </a:solidFill>
              <a:prstDash val="solid"/>
              <a:round/>
            </a:ln>
          </p:spPr>
        </p:sp>
        <p:sp>
          <p:nvSpPr>
            <p:cNvPr name="TextBox 13" id="13"/>
            <p:cNvSpPr txBox="true"/>
            <p:nvPr/>
          </p:nvSpPr>
          <p:spPr>
            <a:xfrm>
              <a:off x="0" y="-47625"/>
              <a:ext cx="2273956" cy="1058620"/>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9516097" y="2837318"/>
            <a:ext cx="8351338" cy="2799286"/>
          </a:xfrm>
          <a:prstGeom prst="rect">
            <a:avLst/>
          </a:prstGeom>
        </p:spPr>
        <p:txBody>
          <a:bodyPr anchor="t" rtlCol="false" tIns="0" lIns="0" bIns="0" rIns="0">
            <a:spAutoFit/>
          </a:bodyPr>
          <a:lstStyle/>
          <a:p>
            <a:pPr algn="l" marL="494815" indent="-247408" lvl="1">
              <a:lnSpc>
                <a:spcPts val="3208"/>
              </a:lnSpc>
              <a:buFont typeface="Arial"/>
              <a:buChar char="•"/>
            </a:pPr>
            <a:r>
              <a:rPr lang="en-US" b="true" sz="2291">
                <a:solidFill>
                  <a:srgbClr val="000000"/>
                </a:solidFill>
                <a:latin typeface="Raleway Bold"/>
                <a:ea typeface="Raleway Bold"/>
                <a:cs typeface="Raleway Bold"/>
                <a:sym typeface="Raleway Bold"/>
              </a:rPr>
              <a:t>Panjang teks review bervariasi, ada yang sangat pendek dan ada yang panjang.</a:t>
            </a:r>
          </a:p>
          <a:p>
            <a:pPr algn="l" marL="494815" indent="-247408" lvl="1">
              <a:lnSpc>
                <a:spcPts val="3208"/>
              </a:lnSpc>
              <a:buFont typeface="Arial"/>
              <a:buChar char="•"/>
            </a:pPr>
            <a:r>
              <a:rPr lang="en-US" b="true" sz="2291">
                <a:solidFill>
                  <a:srgbClr val="000000"/>
                </a:solidFill>
                <a:latin typeface="Raleway Bold"/>
                <a:ea typeface="Raleway Bold"/>
                <a:cs typeface="Raleway Bold"/>
                <a:sym typeface="Raleway Bold"/>
              </a:rPr>
              <a:t>Beberapa review bisa berupa satu kata atau emoji, sementara lainnya menjelaskan pengalaman pengguna.</a:t>
            </a:r>
          </a:p>
          <a:p>
            <a:pPr algn="l" marL="494815" indent="-247408" lvl="1">
              <a:lnSpc>
                <a:spcPts val="3208"/>
              </a:lnSpc>
              <a:buFont typeface="Arial"/>
              <a:buChar char="•"/>
            </a:pPr>
            <a:r>
              <a:rPr lang="en-US" b="true" sz="2291">
                <a:solidFill>
                  <a:srgbClr val="000000"/>
                </a:solidFill>
                <a:latin typeface="Raleway Bold"/>
                <a:ea typeface="Raleway Bold"/>
                <a:cs typeface="Raleway Bold"/>
                <a:sym typeface="Raleway Bold"/>
              </a:rPr>
              <a:t>CNN Indonesia memiliki satu review kosong yang perlu ditangani sebelum analisis NLP.</a:t>
            </a:r>
          </a:p>
          <a:p>
            <a:pPr algn="l">
              <a:lnSpc>
                <a:spcPts val="3208"/>
              </a:lnSpc>
            </a:pPr>
          </a:p>
        </p:txBody>
      </p:sp>
      <p:grpSp>
        <p:nvGrpSpPr>
          <p:cNvPr name="Group 15" id="15"/>
          <p:cNvGrpSpPr/>
          <p:nvPr/>
        </p:nvGrpSpPr>
        <p:grpSpPr>
          <a:xfrm rot="0">
            <a:off x="9374802" y="6019356"/>
            <a:ext cx="8633927" cy="3555906"/>
            <a:chOff x="0" y="0"/>
            <a:chExt cx="2273956" cy="936535"/>
          </a:xfrm>
        </p:grpSpPr>
        <p:sp>
          <p:nvSpPr>
            <p:cNvPr name="Freeform 16" id="16"/>
            <p:cNvSpPr/>
            <p:nvPr/>
          </p:nvSpPr>
          <p:spPr>
            <a:xfrm flipH="false" flipV="false" rot="0">
              <a:off x="0" y="0"/>
              <a:ext cx="2273956" cy="936535"/>
            </a:xfrm>
            <a:custGeom>
              <a:avLst/>
              <a:gdLst/>
              <a:ahLst/>
              <a:cxnLst/>
              <a:rect r="r" b="b" t="t" l="l"/>
              <a:pathLst>
                <a:path h="936535" w="2273956">
                  <a:moveTo>
                    <a:pt x="43938" y="0"/>
                  </a:moveTo>
                  <a:lnTo>
                    <a:pt x="2230018" y="0"/>
                  </a:lnTo>
                  <a:cubicBezTo>
                    <a:pt x="2254284" y="0"/>
                    <a:pt x="2273956" y="19672"/>
                    <a:pt x="2273956" y="43938"/>
                  </a:cubicBezTo>
                  <a:lnTo>
                    <a:pt x="2273956" y="892597"/>
                  </a:lnTo>
                  <a:cubicBezTo>
                    <a:pt x="2273956" y="916863"/>
                    <a:pt x="2254284" y="936535"/>
                    <a:pt x="2230018" y="936535"/>
                  </a:cubicBezTo>
                  <a:lnTo>
                    <a:pt x="43938" y="936535"/>
                  </a:lnTo>
                  <a:cubicBezTo>
                    <a:pt x="32285" y="936535"/>
                    <a:pt x="21109" y="931906"/>
                    <a:pt x="12869" y="923666"/>
                  </a:cubicBezTo>
                  <a:cubicBezTo>
                    <a:pt x="4629" y="915426"/>
                    <a:pt x="0" y="904250"/>
                    <a:pt x="0" y="892597"/>
                  </a:cubicBezTo>
                  <a:lnTo>
                    <a:pt x="0" y="43938"/>
                  </a:lnTo>
                  <a:cubicBezTo>
                    <a:pt x="0" y="32285"/>
                    <a:pt x="4629" y="21109"/>
                    <a:pt x="12869" y="12869"/>
                  </a:cubicBezTo>
                  <a:cubicBezTo>
                    <a:pt x="21109" y="4629"/>
                    <a:pt x="32285" y="0"/>
                    <a:pt x="43938" y="0"/>
                  </a:cubicBezTo>
                  <a:close/>
                </a:path>
              </a:pathLst>
            </a:custGeom>
            <a:solidFill>
              <a:srgbClr val="C6FF4D"/>
            </a:solidFill>
            <a:ln w="38100" cap="rnd">
              <a:solidFill>
                <a:srgbClr val="000000"/>
              </a:solidFill>
              <a:prstDash val="solid"/>
              <a:round/>
            </a:ln>
          </p:spPr>
        </p:sp>
        <p:sp>
          <p:nvSpPr>
            <p:cNvPr name="TextBox 17" id="17"/>
            <p:cNvSpPr txBox="true"/>
            <p:nvPr/>
          </p:nvSpPr>
          <p:spPr>
            <a:xfrm>
              <a:off x="0" y="-47625"/>
              <a:ext cx="2273956" cy="984160"/>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9516097" y="6775975"/>
            <a:ext cx="8351338" cy="2399236"/>
          </a:xfrm>
          <a:prstGeom prst="rect">
            <a:avLst/>
          </a:prstGeom>
        </p:spPr>
        <p:txBody>
          <a:bodyPr anchor="t" rtlCol="false" tIns="0" lIns="0" bIns="0" rIns="0">
            <a:spAutoFit/>
          </a:bodyPr>
          <a:lstStyle/>
          <a:p>
            <a:pPr algn="l" marL="494815" indent="-247408" lvl="1">
              <a:lnSpc>
                <a:spcPts val="3208"/>
              </a:lnSpc>
              <a:buFont typeface="Arial"/>
              <a:buChar char="•"/>
            </a:pPr>
            <a:r>
              <a:rPr lang="en-US" b="true" sz="2291">
                <a:solidFill>
                  <a:srgbClr val="000000"/>
                </a:solidFill>
                <a:latin typeface="Raleway Bold"/>
                <a:ea typeface="Raleway Bold"/>
                <a:cs typeface="Raleway Bold"/>
                <a:sym typeface="Raleway Bold"/>
              </a:rPr>
              <a:t>Tidak ada missing di Detikcom → siap pakai langsung.</a:t>
            </a:r>
          </a:p>
          <a:p>
            <a:pPr algn="l" marL="494815" indent="-247408" lvl="1">
              <a:lnSpc>
                <a:spcPts val="3208"/>
              </a:lnSpc>
              <a:buFont typeface="Arial"/>
              <a:buChar char="•"/>
            </a:pPr>
            <a:r>
              <a:rPr lang="en-US" b="true" sz="2291">
                <a:solidFill>
                  <a:srgbClr val="000000"/>
                </a:solidFill>
                <a:latin typeface="Raleway Bold"/>
                <a:ea typeface="Raleway Bold"/>
                <a:cs typeface="Raleway Bold"/>
                <a:sym typeface="Raleway Bold"/>
              </a:rPr>
              <a:t>CNN Indonesia ada 1 missing</a:t>
            </a:r>
            <a:r>
              <a:rPr lang="en-US" b="true" sz="2291">
                <a:solidFill>
                  <a:srgbClr val="000000"/>
                </a:solidFill>
                <a:latin typeface="Raleway Bold"/>
                <a:ea typeface="Raleway Bold"/>
                <a:cs typeface="Raleway Bold"/>
                <a:sym typeface="Raleway Bold"/>
              </a:rPr>
              <a:t> → bisa dihapus atau diisi jika diperlukan.</a:t>
            </a:r>
          </a:p>
          <a:p>
            <a:pPr algn="l" marL="494815" indent="-247408" lvl="1">
              <a:lnSpc>
                <a:spcPts val="3208"/>
              </a:lnSpc>
              <a:buFont typeface="Arial"/>
              <a:buChar char="•"/>
            </a:pPr>
            <a:r>
              <a:rPr lang="en-US" b="true" sz="2291">
                <a:solidFill>
                  <a:srgbClr val="000000"/>
                </a:solidFill>
                <a:latin typeface="Raleway Bold"/>
                <a:ea typeface="Raleway Bold"/>
                <a:cs typeface="Raleway Bold"/>
                <a:sym typeface="Raleway Bold"/>
              </a:rPr>
              <a:t>R</a:t>
            </a:r>
            <a:r>
              <a:rPr lang="en-US" b="true" sz="2291">
                <a:solidFill>
                  <a:srgbClr val="000000"/>
                </a:solidFill>
                <a:latin typeface="Raleway Bold"/>
                <a:ea typeface="Raleway Bold"/>
                <a:cs typeface="Raleway Bold"/>
                <a:sym typeface="Raleway Bold"/>
              </a:rPr>
              <a:t>ating sudah tersedia sehingga bisa dipakai untuk analisis statistik cepat.</a:t>
            </a:r>
          </a:p>
          <a:p>
            <a:pPr algn="l">
              <a:lnSpc>
                <a:spcPts val="3208"/>
              </a:lnSpc>
            </a:pPr>
          </a:p>
        </p:txBody>
      </p:sp>
      <p:sp>
        <p:nvSpPr>
          <p:cNvPr name="TextBox 19" id="19"/>
          <p:cNvSpPr txBox="true"/>
          <p:nvPr/>
        </p:nvSpPr>
        <p:spPr>
          <a:xfrm rot="0">
            <a:off x="9657391" y="6281608"/>
            <a:ext cx="8351338" cy="398986"/>
          </a:xfrm>
          <a:prstGeom prst="rect">
            <a:avLst/>
          </a:prstGeom>
        </p:spPr>
        <p:txBody>
          <a:bodyPr anchor="t" rtlCol="false" tIns="0" lIns="0" bIns="0" rIns="0">
            <a:spAutoFit/>
          </a:bodyPr>
          <a:lstStyle/>
          <a:p>
            <a:pPr algn="l">
              <a:lnSpc>
                <a:spcPts val="3208"/>
              </a:lnSpc>
            </a:pPr>
            <a:r>
              <a:rPr lang="en-US" b="true" sz="2291">
                <a:solidFill>
                  <a:srgbClr val="000000"/>
                </a:solidFill>
                <a:latin typeface="Raleway Bold"/>
                <a:ea typeface="Raleway Bold"/>
                <a:cs typeface="Raleway Bold"/>
                <a:sym typeface="Raleway Bold"/>
              </a:rPr>
              <a:t>Kualitas Data</a:t>
            </a:r>
          </a:p>
        </p:txBody>
      </p:sp>
      <p:sp>
        <p:nvSpPr>
          <p:cNvPr name="TextBox 20" id="20"/>
          <p:cNvSpPr txBox="true"/>
          <p:nvPr/>
        </p:nvSpPr>
        <p:spPr>
          <a:xfrm rot="0">
            <a:off x="9657391" y="2289316"/>
            <a:ext cx="8351338" cy="398986"/>
          </a:xfrm>
          <a:prstGeom prst="rect">
            <a:avLst/>
          </a:prstGeom>
        </p:spPr>
        <p:txBody>
          <a:bodyPr anchor="t" rtlCol="false" tIns="0" lIns="0" bIns="0" rIns="0">
            <a:spAutoFit/>
          </a:bodyPr>
          <a:lstStyle/>
          <a:p>
            <a:pPr algn="l">
              <a:lnSpc>
                <a:spcPts val="3208"/>
              </a:lnSpc>
            </a:pPr>
            <a:r>
              <a:rPr lang="en-US" b="true" sz="2291">
                <a:solidFill>
                  <a:srgbClr val="000000"/>
                </a:solidFill>
                <a:latin typeface="Raleway Bold"/>
                <a:ea typeface="Raleway Bold"/>
                <a:cs typeface="Raleway Bold"/>
                <a:sym typeface="Raleway Bold"/>
              </a:rPr>
              <a:t>Data Teks Review</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14524225" y="0"/>
            <a:ext cx="3763775" cy="10287000"/>
            <a:chOff x="0" y="0"/>
            <a:chExt cx="346742" cy="947703"/>
          </a:xfrm>
        </p:grpSpPr>
        <p:sp>
          <p:nvSpPr>
            <p:cNvPr name="Freeform 3" id="3"/>
            <p:cNvSpPr/>
            <p:nvPr/>
          </p:nvSpPr>
          <p:spPr>
            <a:xfrm flipH="false" flipV="false" rot="0">
              <a:off x="0" y="0"/>
              <a:ext cx="346742" cy="947703"/>
            </a:xfrm>
            <a:custGeom>
              <a:avLst/>
              <a:gdLst/>
              <a:ahLst/>
              <a:cxnLst/>
              <a:rect r="r" b="b" t="t" l="l"/>
              <a:pathLst>
                <a:path h="947703" w="346742">
                  <a:moveTo>
                    <a:pt x="0" y="0"/>
                  </a:moveTo>
                  <a:lnTo>
                    <a:pt x="346742" y="0"/>
                  </a:lnTo>
                  <a:lnTo>
                    <a:pt x="346742" y="947703"/>
                  </a:lnTo>
                  <a:lnTo>
                    <a:pt x="0" y="947703"/>
                  </a:lnTo>
                  <a:close/>
                </a:path>
              </a:pathLst>
            </a:custGeom>
            <a:solidFill>
              <a:srgbClr val="C6FF4D"/>
            </a:solidFill>
          </p:spPr>
        </p:sp>
        <p:sp>
          <p:nvSpPr>
            <p:cNvPr name="TextBox 4" id="4"/>
            <p:cNvSpPr txBox="true"/>
            <p:nvPr/>
          </p:nvSpPr>
          <p:spPr>
            <a:xfrm>
              <a:off x="0" y="-47625"/>
              <a:ext cx="346742" cy="99532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5781411" y="5143500"/>
            <a:ext cx="1249403" cy="4114800"/>
          </a:xfrm>
          <a:custGeom>
            <a:avLst/>
            <a:gdLst/>
            <a:ahLst/>
            <a:cxnLst/>
            <a:rect r="r" b="b" t="t" l="l"/>
            <a:pathLst>
              <a:path h="4114800" w="1249403">
                <a:moveTo>
                  <a:pt x="0" y="0"/>
                </a:moveTo>
                <a:lnTo>
                  <a:pt x="1249403" y="0"/>
                </a:lnTo>
                <a:lnTo>
                  <a:pt x="1249403"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5470614" y="1028700"/>
            <a:ext cx="1870996" cy="3285275"/>
          </a:xfrm>
          <a:custGeom>
            <a:avLst/>
            <a:gdLst/>
            <a:ahLst/>
            <a:cxnLst/>
            <a:rect r="r" b="b" t="t" l="l"/>
            <a:pathLst>
              <a:path h="3285275" w="1870996">
                <a:moveTo>
                  <a:pt x="0" y="0"/>
                </a:moveTo>
                <a:lnTo>
                  <a:pt x="1870997" y="0"/>
                </a:lnTo>
                <a:lnTo>
                  <a:pt x="1870997" y="3285275"/>
                </a:lnTo>
                <a:lnTo>
                  <a:pt x="0" y="32852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1028700" y="2505789"/>
            <a:ext cx="12699178" cy="5769668"/>
            <a:chOff x="0" y="0"/>
            <a:chExt cx="3344640" cy="1519583"/>
          </a:xfrm>
        </p:grpSpPr>
        <p:sp>
          <p:nvSpPr>
            <p:cNvPr name="Freeform 8" id="8"/>
            <p:cNvSpPr/>
            <p:nvPr/>
          </p:nvSpPr>
          <p:spPr>
            <a:xfrm flipH="false" flipV="false" rot="0">
              <a:off x="0" y="0"/>
              <a:ext cx="3344640" cy="1519583"/>
            </a:xfrm>
            <a:custGeom>
              <a:avLst/>
              <a:gdLst/>
              <a:ahLst/>
              <a:cxnLst/>
              <a:rect r="r" b="b" t="t" l="l"/>
              <a:pathLst>
                <a:path h="1519583" w="3344640">
                  <a:moveTo>
                    <a:pt x="48771" y="0"/>
                  </a:moveTo>
                  <a:lnTo>
                    <a:pt x="3295869" y="0"/>
                  </a:lnTo>
                  <a:cubicBezTo>
                    <a:pt x="3308803" y="0"/>
                    <a:pt x="3321209" y="5138"/>
                    <a:pt x="3330355" y="14285"/>
                  </a:cubicBezTo>
                  <a:cubicBezTo>
                    <a:pt x="3339501" y="23431"/>
                    <a:pt x="3344640" y="35836"/>
                    <a:pt x="3344640" y="48771"/>
                  </a:cubicBezTo>
                  <a:lnTo>
                    <a:pt x="3344640" y="1470812"/>
                  </a:lnTo>
                  <a:cubicBezTo>
                    <a:pt x="3344640" y="1483747"/>
                    <a:pt x="3339501" y="1496152"/>
                    <a:pt x="3330355" y="1505299"/>
                  </a:cubicBezTo>
                  <a:cubicBezTo>
                    <a:pt x="3321209" y="1514445"/>
                    <a:pt x="3308803" y="1519583"/>
                    <a:pt x="3295869" y="1519583"/>
                  </a:cubicBezTo>
                  <a:lnTo>
                    <a:pt x="48771" y="1519583"/>
                  </a:lnTo>
                  <a:cubicBezTo>
                    <a:pt x="35836" y="1519583"/>
                    <a:pt x="23431" y="1514445"/>
                    <a:pt x="14285" y="1505299"/>
                  </a:cubicBezTo>
                  <a:cubicBezTo>
                    <a:pt x="5138" y="1496152"/>
                    <a:pt x="0" y="1483747"/>
                    <a:pt x="0" y="1470812"/>
                  </a:cubicBezTo>
                  <a:lnTo>
                    <a:pt x="0" y="48771"/>
                  </a:lnTo>
                  <a:cubicBezTo>
                    <a:pt x="0" y="35836"/>
                    <a:pt x="5138" y="23431"/>
                    <a:pt x="14285" y="14285"/>
                  </a:cubicBezTo>
                  <a:cubicBezTo>
                    <a:pt x="23431" y="5138"/>
                    <a:pt x="35836" y="0"/>
                    <a:pt x="48771" y="0"/>
                  </a:cubicBezTo>
                  <a:close/>
                </a:path>
              </a:pathLst>
            </a:custGeom>
            <a:ln w="38100" cap="rnd">
              <a:solidFill>
                <a:srgbClr val="000000"/>
              </a:solidFill>
              <a:prstDash val="solid"/>
              <a:round/>
            </a:ln>
          </p:spPr>
        </p:sp>
        <p:sp>
          <p:nvSpPr>
            <p:cNvPr name="TextBox 9" id="9"/>
            <p:cNvSpPr txBox="true"/>
            <p:nvPr/>
          </p:nvSpPr>
          <p:spPr>
            <a:xfrm>
              <a:off x="0" y="-47625"/>
              <a:ext cx="3344640" cy="1567208"/>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1028700" y="8932354"/>
            <a:ext cx="3195517" cy="651892"/>
          </a:xfrm>
          <a:custGeom>
            <a:avLst/>
            <a:gdLst/>
            <a:ahLst/>
            <a:cxnLst/>
            <a:rect r="r" b="b" t="t" l="l"/>
            <a:pathLst>
              <a:path h="651892" w="3195517">
                <a:moveTo>
                  <a:pt x="0" y="0"/>
                </a:moveTo>
                <a:lnTo>
                  <a:pt x="3195517" y="0"/>
                </a:lnTo>
                <a:lnTo>
                  <a:pt x="3195517" y="651892"/>
                </a:lnTo>
                <a:lnTo>
                  <a:pt x="0" y="651892"/>
                </a:lnTo>
                <a:lnTo>
                  <a:pt x="0" y="0"/>
                </a:lnTo>
                <a:close/>
              </a:path>
            </a:pathLst>
          </a:custGeom>
          <a:blipFill>
            <a:blip r:embed="rId6">
              <a:extLst>
                <a:ext uri="{96DAC541-7B7A-43D3-8B79-37D633B846F1}">
                  <asvg:svgBlip xmlns:asvg="http://schemas.microsoft.com/office/drawing/2016/SVG/main" r:embed="rId7"/>
                </a:ext>
              </a:extLst>
            </a:blip>
            <a:stretch>
              <a:fillRect l="0" t="-289610" r="-45231" b="0"/>
            </a:stretch>
          </a:blipFill>
        </p:spPr>
      </p:sp>
      <p:sp>
        <p:nvSpPr>
          <p:cNvPr name="TextBox 11" id="11"/>
          <p:cNvSpPr txBox="true"/>
          <p:nvPr/>
        </p:nvSpPr>
        <p:spPr>
          <a:xfrm rot="0">
            <a:off x="1028700" y="1085850"/>
            <a:ext cx="9055627" cy="763042"/>
          </a:xfrm>
          <a:prstGeom prst="rect">
            <a:avLst/>
          </a:prstGeom>
        </p:spPr>
        <p:txBody>
          <a:bodyPr anchor="t" rtlCol="false" tIns="0" lIns="0" bIns="0" rIns="0">
            <a:spAutoFit/>
          </a:bodyPr>
          <a:lstStyle/>
          <a:p>
            <a:pPr algn="l">
              <a:lnSpc>
                <a:spcPts val="5740"/>
              </a:lnSpc>
            </a:pPr>
            <a:r>
              <a:rPr lang="en-US" b="true" sz="5415">
                <a:solidFill>
                  <a:srgbClr val="000000"/>
                </a:solidFill>
                <a:latin typeface="Neue Machina Ultra-Bold"/>
                <a:ea typeface="Neue Machina Ultra-Bold"/>
                <a:cs typeface="Neue Machina Ultra-Bold"/>
                <a:sym typeface="Neue Machina Ultra-Bold"/>
              </a:rPr>
              <a:t>KESIMPULAN </a:t>
            </a:r>
          </a:p>
        </p:txBody>
      </p:sp>
      <p:sp>
        <p:nvSpPr>
          <p:cNvPr name="TextBox 12" id="12"/>
          <p:cNvSpPr txBox="true"/>
          <p:nvPr/>
        </p:nvSpPr>
        <p:spPr>
          <a:xfrm rot="0">
            <a:off x="2112714" y="3268453"/>
            <a:ext cx="10531150" cy="4187190"/>
          </a:xfrm>
          <a:prstGeom prst="rect">
            <a:avLst/>
          </a:prstGeom>
        </p:spPr>
        <p:txBody>
          <a:bodyPr anchor="t" rtlCol="false" tIns="0" lIns="0" bIns="0" rIns="0">
            <a:spAutoFit/>
          </a:bodyPr>
          <a:lstStyle/>
          <a:p>
            <a:pPr algn="just">
              <a:lnSpc>
                <a:spcPts val="3360"/>
              </a:lnSpc>
            </a:pPr>
            <a:r>
              <a:rPr lang="en-US" sz="2400">
                <a:solidFill>
                  <a:srgbClr val="000000"/>
                </a:solidFill>
                <a:latin typeface="Raleway"/>
                <a:ea typeface="Raleway"/>
                <a:cs typeface="Raleway"/>
                <a:sym typeface="Raleway"/>
              </a:rPr>
              <a:t>Dataset ulasan Detikcom dan CNN Indonesia memiliki struktur konsisten dengan kolom Review ID, Username, Rating, Review Text, dan Date, sebagian besar lengkap kecuali satu review kosong pada CNN. Distribusi rating didominasi ulasan positif, dengan Detikcom lebih ekstrem pada rating 5 dan 1, sementara CNN Indonesia lebih merata di tengah. Variasi panjang teks review memungkinkan analisis sentimen, topik utama, dan tren opini pengguna. Secara keseluruhan, data bersih dan kaya informasi, siap untuk analisis statistik maupun NLP guna memahami persepsi pengguna terhadap kedua aplikasi.</a:t>
            </a:r>
          </a:p>
          <a:p>
            <a:pPr algn="just">
              <a:lnSpc>
                <a:spcPts val="3360"/>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DAHGuw3VfFU</dc:identifier>
  <dcterms:modified xsi:type="dcterms:W3CDTF">2011-08-01T06:04:30Z</dcterms:modified>
  <cp:revision>1</cp:revision>
  <dc:title>Volume</dc:title>
</cp:coreProperties>
</file>